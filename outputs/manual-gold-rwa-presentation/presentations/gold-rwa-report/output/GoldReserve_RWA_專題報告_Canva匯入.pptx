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7c84a6520554c3c" /><Relationship Type="http://schemas.openxmlformats.org/officeDocument/2006/relationships/extended-properties" Target="/docProps/app.xml" Id="R4b68677d3db94117" /><Relationship Type="http://schemas.openxmlformats.org/officeDocument/2006/relationships/officeDocument" Target="/ppt/presentation.xml" Id="R9e8f659542f44c1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1a803e919be4dc6"/>
  </p:sldMasterIdLst>
  <p:notesMasterIdLst>
    <p:notesMasterId xmlns:r="http://schemas.openxmlformats.org/officeDocument/2006/relationships" r:id="R3757fbca31044618"/>
  </p:notesMasterIdLst>
  <p:sldIdLst>
    <p:sldId xmlns:r="http://schemas.openxmlformats.org/officeDocument/2006/relationships" id="256" r:id="R8407a4bd86324fa3"/>
    <p:sldId xmlns:r="http://schemas.openxmlformats.org/officeDocument/2006/relationships" id="257" r:id="R98fd91e841ce421a"/>
    <p:sldId xmlns:r="http://schemas.openxmlformats.org/officeDocument/2006/relationships" id="258" r:id="Rc1fb02bd407b485f"/>
    <p:sldId xmlns:r="http://schemas.openxmlformats.org/officeDocument/2006/relationships" id="259" r:id="Rd91504eed908455d"/>
    <p:sldId xmlns:r="http://schemas.openxmlformats.org/officeDocument/2006/relationships" id="260" r:id="R7d2f73dc38cb4a3a"/>
    <p:sldId xmlns:r="http://schemas.openxmlformats.org/officeDocument/2006/relationships" id="261" r:id="R665bade8640541a3"/>
    <p:sldId xmlns:r="http://schemas.openxmlformats.org/officeDocument/2006/relationships" id="262" r:id="R2283a29b4d144af5"/>
    <p:sldId xmlns:r="http://schemas.openxmlformats.org/officeDocument/2006/relationships" id="263" r:id="Ra52245c3fe56452d"/>
    <p:sldId xmlns:r="http://schemas.openxmlformats.org/officeDocument/2006/relationships" id="264" r:id="R48410f27440844ad"/>
    <p:sldId xmlns:r="http://schemas.openxmlformats.org/officeDocument/2006/relationships" id="265" r:id="Rb500ad297f284f01"/>
    <p:sldId xmlns:r="http://schemas.openxmlformats.org/officeDocument/2006/relationships" id="266" r:id="R29980e1bdc564928"/>
    <p:sldId xmlns:r="http://schemas.openxmlformats.org/officeDocument/2006/relationships" id="267" r:id="R8d012391debb44be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f737078f2c44ae0" /><Relationship Type="http://schemas.openxmlformats.org/officeDocument/2006/relationships/slideMaster" Target="/ppt/slideMasters/slideMaster1.xml" Id="R11a803e919be4dc6" /><Relationship Type="http://schemas.openxmlformats.org/officeDocument/2006/relationships/notesMaster" Target="/ppt/notesMasters/notesMaster1.xml" Id="R3757fbca31044618" /><Relationship Type="http://schemas.openxmlformats.org/officeDocument/2006/relationships/presProps" Target="/ppt/presProps.xml" Id="R0b5ec9390251469a" /><Relationship Type="http://schemas.openxmlformats.org/officeDocument/2006/relationships/viewProps" Target="/ppt/viewProps.xml" Id="R75a85560be4f436d" /><Relationship Type="http://schemas.openxmlformats.org/officeDocument/2006/relationships/tableStyles" Target="/ppt/tableStyles.xml" Id="R1f08772d395f44ba" /><Relationship Type="http://schemas.openxmlformats.org/officeDocument/2006/relationships/slide" Target="/ppt/slides/slide1.xml" Id="R8407a4bd86324fa3" /><Relationship Type="http://schemas.openxmlformats.org/officeDocument/2006/relationships/slide" Target="/ppt/slides/slide2.xml" Id="R98fd91e841ce421a" /><Relationship Type="http://schemas.openxmlformats.org/officeDocument/2006/relationships/slide" Target="/ppt/slides/slide3.xml" Id="Rc1fb02bd407b485f" /><Relationship Type="http://schemas.openxmlformats.org/officeDocument/2006/relationships/slide" Target="/ppt/slides/slide4.xml" Id="Rd91504eed908455d" /><Relationship Type="http://schemas.openxmlformats.org/officeDocument/2006/relationships/slide" Target="/ppt/slides/slide5.xml" Id="R7d2f73dc38cb4a3a" /><Relationship Type="http://schemas.openxmlformats.org/officeDocument/2006/relationships/slide" Target="/ppt/slides/slide6.xml" Id="R665bade8640541a3" /><Relationship Type="http://schemas.openxmlformats.org/officeDocument/2006/relationships/slide" Target="/ppt/slides/slide7.xml" Id="R2283a29b4d144af5" /><Relationship Type="http://schemas.openxmlformats.org/officeDocument/2006/relationships/slide" Target="/ppt/slides/slide8.xml" Id="Ra52245c3fe56452d" /><Relationship Type="http://schemas.openxmlformats.org/officeDocument/2006/relationships/slide" Target="/ppt/slides/slide9.xml" Id="R48410f27440844ad" /><Relationship Type="http://schemas.openxmlformats.org/officeDocument/2006/relationships/slide" Target="/ppt/slides/slide10.xml" Id="Rb500ad297f284f01" /><Relationship Type="http://schemas.openxmlformats.org/officeDocument/2006/relationships/slide" Target="/ppt/slides/slide11.xml" Id="R29980e1bdc564928" /><Relationship Type="http://schemas.openxmlformats.org/officeDocument/2006/relationships/slide" Target="/ppt/slides/slide12.xml" Id="R8d012391debb44b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a2639d947264a2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7e750da5ccd4172" /><Relationship Type="http://schemas.openxmlformats.org/officeDocument/2006/relationships/notesMaster" Target="/ppt/notesMasters/notesMaster1.xml" Id="R381fe8bfeb0c443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675c5f4f36a403f" /><Relationship Type="http://schemas.openxmlformats.org/officeDocument/2006/relationships/notesMaster" Target="/ppt/notesMasters/notesMaster1.xml" Id="Re7e9ce7661e6406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f338bf23c2441ab" /><Relationship Type="http://schemas.openxmlformats.org/officeDocument/2006/relationships/notesMaster" Target="/ppt/notesMasters/notesMaster1.xml" Id="Ra30f1111d59446f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b60cdff171746ba" /><Relationship Type="http://schemas.openxmlformats.org/officeDocument/2006/relationships/notesMaster" Target="/ppt/notesMasters/notesMaster1.xml" Id="Rc875730511a3490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0ab8d332c6b4890" /><Relationship Type="http://schemas.openxmlformats.org/officeDocument/2006/relationships/notesMaster" Target="/ppt/notesMasters/notesMaster1.xml" Id="Rff56c9059abf4e3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ea2f9a33037402d" /><Relationship Type="http://schemas.openxmlformats.org/officeDocument/2006/relationships/notesMaster" Target="/ppt/notesMasters/notesMaster1.xml" Id="R57e137707c6e4f3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ef29dbf62cf4470" /><Relationship Type="http://schemas.openxmlformats.org/officeDocument/2006/relationships/notesMaster" Target="/ppt/notesMasters/notesMaster1.xml" Id="R39c54e621428426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ccb6e1ab2e44c11" /><Relationship Type="http://schemas.openxmlformats.org/officeDocument/2006/relationships/notesMaster" Target="/ppt/notesMasters/notesMaster1.xml" Id="Re47ea5d215b6479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03e9e35729646fd" /><Relationship Type="http://schemas.openxmlformats.org/officeDocument/2006/relationships/notesMaster" Target="/ppt/notesMasters/notesMaster1.xml" Id="Rac8db33e483b46a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685e6ed84b44aa9" /><Relationship Type="http://schemas.openxmlformats.org/officeDocument/2006/relationships/notesMaster" Target="/ppt/notesMasters/notesMaster1.xml" Id="R079d571938514de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2864b7f3c8746c2" /><Relationship Type="http://schemas.openxmlformats.org/officeDocument/2006/relationships/notesMaster" Target="/ppt/notesMasters/notesMaster1.xml" Id="Rb66fbf673503479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1a796682a5444d3" /><Relationship Type="http://schemas.openxmlformats.org/officeDocument/2006/relationships/notesMaster" Target="/ppt/notesMasters/notesMaster1.xml" Id="Ra49fa76f607e42f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1f9c25f96e0400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ec656f5ce564253" /><Relationship Type="http://schemas.openxmlformats.org/officeDocument/2006/relationships/slideLayout" Target="/ppt/slideLayouts/slideLayout1.xml" Id="R373d6a84f72a4c3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73d6a84f72a4c3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c82916c0904a8d" /><Relationship Type="http://schemas.openxmlformats.org/officeDocument/2006/relationships/notesSlide" Target="/ppt/notesSlides/notesSlide1.xml" Id="R43a478f723a640e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c092503487473a" /><Relationship Type="http://schemas.openxmlformats.org/officeDocument/2006/relationships/notesSlide" Target="/ppt/notesSlides/notesSlide2.xml" Id="Rd3e8b67b8cd54c0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bfc387f6024ef8" /><Relationship Type="http://schemas.openxmlformats.org/officeDocument/2006/relationships/notesSlide" Target="/ppt/notesSlides/notesSlide3.xml" Id="R56987008a3b7458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a8fdab6e7c471e" /><Relationship Type="http://schemas.openxmlformats.org/officeDocument/2006/relationships/notesSlide" Target="/ppt/notesSlides/notesSlide4.xml" Id="R84c4645e6135421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c18091fea6477c" /><Relationship Type="http://schemas.openxmlformats.org/officeDocument/2006/relationships/notesSlide" Target="/ppt/notesSlides/notesSlide5.xml" Id="R033f3376d7554da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b12ab644d74399" /><Relationship Type="http://schemas.openxmlformats.org/officeDocument/2006/relationships/notesSlide" Target="/ppt/notesSlides/notesSlide6.xml" Id="Rc6abb153059644c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e583cbc8d549bb" /><Relationship Type="http://schemas.openxmlformats.org/officeDocument/2006/relationships/notesSlide" Target="/ppt/notesSlides/notesSlide7.xml" Id="R446a69cad652446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6379049b6340dc" /><Relationship Type="http://schemas.openxmlformats.org/officeDocument/2006/relationships/notesSlide" Target="/ppt/notesSlides/notesSlide8.xml" Id="R3d09aab520c34ce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326a77b9bb45a7" /><Relationship Type="http://schemas.openxmlformats.org/officeDocument/2006/relationships/notesSlide" Target="/ppt/notesSlides/notesSlide9.xml" Id="Rcaf7ecc3dcfe44f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1626ea8f6e47aa" /><Relationship Type="http://schemas.openxmlformats.org/officeDocument/2006/relationships/notesSlide" Target="/ppt/notesSlides/notesSlide10.xml" Id="R200e10834a3f408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307c84a7af4977" /><Relationship Type="http://schemas.openxmlformats.org/officeDocument/2006/relationships/notesSlide" Target="/ppt/notesSlides/notesSlide11.xml" Id="Rd9a9a3b5c987471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bbeae45ddf4bf0" /><Relationship Type="http://schemas.openxmlformats.org/officeDocument/2006/relationships/notesSlide" Target="/ppt/notesSlides/notesSlide12.xml" Id="Rbc753d67f51e4794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937158C-A388-497A-9A95-892E5009A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91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23EAB9-B61B-42E1-A489-8E90B744B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8A72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D8A72F"/>
                </a:solidFill>
                <a:latin typeface="Aptos"/>
                <a:ea typeface="Aptos"/>
                <a:cs typeface="Aptos"/>
              </a:rPr>
              <a:t>GOLD-BACKED RWA PLATFORM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E26AEA-BFA3-4770-B14D-F3F599459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23950"/>
            <a:ext cx="6858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7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GoldReserve</a:t>
            </a:r>
          </a:p>
          <a:p xmlns:a="http://schemas.openxmlformats.org/drawingml/2006/main">
            <a:pPr algn="l">
              <a:defRPr sz="37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7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黃金儲備代幣化平台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36449F-2585-4BB6-B7EB-FA1EE8B0F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57500"/>
            <a:ext cx="6858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DE6E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DDE6E2"/>
                </a:solidFill>
                <a:latin typeface="Microsoft JhengHei"/>
                <a:ea typeface="Microsoft JhengHei"/>
                <a:cs typeface="Microsoft JhengHei"/>
              </a:rPr>
              <a:t>以 GGT 表示經審計保管的黃金克數，將鏈下實體儲備、鏈上 proof hash、白名單與贖回流程整合成可操作的 RWA 產品。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FACFEA-94E2-42A8-8BAB-1A9193215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026920"/>
            <a:ext cx="1971675" cy="2628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72F"/>
          </a:solidFill>
          <a:ln xmlns:a="http://schemas.openxmlformats.org/drawingml/2006/main" w="9525">
            <a:solidFill>
              <a:srgbClr val="8F671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20F582-703C-43D9-A83E-2D939AE89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2015" y="1742123"/>
            <a:ext cx="1971675" cy="2628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72F"/>
          </a:solidFill>
          <a:ln xmlns:a="http://schemas.openxmlformats.org/drawingml/2006/main" w="9525">
            <a:solidFill>
              <a:srgbClr val="8F671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68DC6B-B920-42B5-90AE-29AA6FCD4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4905" y="1457325"/>
            <a:ext cx="1971675" cy="2628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72F"/>
          </a:solidFill>
          <a:ln xmlns:a="http://schemas.openxmlformats.org/drawingml/2006/main" w="9525">
            <a:solidFill>
              <a:srgbClr val="8F671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53FCCD-4BA7-4741-8D3A-AB434FDB4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05300"/>
            <a:ext cx="2381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126"/>
          </a:solidFill>
          <a:ln xmlns:a="http://schemas.openxmlformats.org/drawingml/2006/main" w="9525">
            <a:solidFill>
              <a:srgbClr val="2B3B4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4A9400-8A47-4B2A-B468-700501898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76750"/>
            <a:ext cx="2038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8C4C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B8C4C6"/>
                </a:solidFill>
                <a:latin typeface="Microsoft JhengHei"/>
                <a:ea typeface="Microsoft JhengHei"/>
                <a:cs typeface="Microsoft JhengHei"/>
              </a:rPr>
              <a:t>Token backing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87172D-E73C-4F97-97BA-CE966FCDF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05350"/>
            <a:ext cx="2038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D8A72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D8A72F"/>
                </a:solidFill>
                <a:latin typeface="Aptos"/>
                <a:ea typeface="Aptos"/>
                <a:cs typeface="Aptos"/>
              </a:rPr>
              <a:t>1 GGT = 1g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EA13D0-1CE0-425A-B153-705305D59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05400"/>
            <a:ext cx="20383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B8C4C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>
                <a:solidFill>
                  <a:srgbClr val="B8C4C6"/>
                </a:solidFill>
                <a:latin typeface="Microsoft JhengHei"/>
                <a:ea typeface="Microsoft JhengHei"/>
                <a:cs typeface="Microsoft JhengHei"/>
              </a:rPr>
              <a:t>Audited physical gold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7F013C-5E3C-481D-99BA-2D1383914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4305300"/>
            <a:ext cx="2095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126"/>
          </a:solidFill>
          <a:ln xmlns:a="http://schemas.openxmlformats.org/drawingml/2006/main" w="9525">
            <a:solidFill>
              <a:srgbClr val="2B3B4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2CC7E9C-613F-43FF-A32B-5D597A58D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476750"/>
            <a:ext cx="1752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8C4C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B8C4C6"/>
                </a:solidFill>
                <a:latin typeface="Microsoft JhengHei"/>
                <a:ea typeface="Microsoft JhengHei"/>
                <a:cs typeface="Microsoft JhengHei"/>
              </a:rPr>
              <a:t>Network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125B4C-DD4A-4377-B4A1-AA24B547B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705350"/>
            <a:ext cx="1752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Sepolia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62CB574-88EA-4F8D-9A2B-3BE51B851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5105400"/>
            <a:ext cx="1752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B8C4C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>
                <a:solidFill>
                  <a:srgbClr val="B8C4C6"/>
                </a:solidFill>
                <a:latin typeface="Microsoft JhengHei"/>
                <a:ea typeface="Microsoft JhengHei"/>
                <a:cs typeface="Microsoft JhengHei"/>
              </a:rPr>
              <a:t>Smart contract deployed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01089DD-0259-4378-91DB-E80455457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4305300"/>
            <a:ext cx="2095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126"/>
          </a:solidFill>
          <a:ln xmlns:a="http://schemas.openxmlformats.org/drawingml/2006/main" w="9525">
            <a:solidFill>
              <a:srgbClr val="2B3B4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4E11FAC-DD54-4C2A-B036-E99F51212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476750"/>
            <a:ext cx="1752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8C4C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B8C4C6"/>
                </a:solidFill>
                <a:latin typeface="Microsoft JhengHei"/>
                <a:ea typeface="Microsoft JhengHei"/>
                <a:cs typeface="Microsoft JhengHei"/>
              </a:rPr>
              <a:t>Product URL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1C2CD1C-922C-4FF6-9F5F-FF88F5CC2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705350"/>
            <a:ext cx="1752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Vercel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07DA713-44B1-4142-8AB7-D30B2343A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105400"/>
            <a:ext cx="1752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B8C4C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>
                <a:solidFill>
                  <a:srgbClr val="B8C4C6"/>
                </a:solidFill>
                <a:latin typeface="Microsoft JhengHei"/>
                <a:ea typeface="Microsoft JhengHei"/>
                <a:cs typeface="Microsoft JhengHei"/>
              </a:rPr>
              <a:t>gold-rwa-poc.vercel.app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E7DFCDF-C5B9-470D-BC96-7609ABBE7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305300"/>
            <a:ext cx="2857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126"/>
          </a:solidFill>
          <a:ln xmlns:a="http://schemas.openxmlformats.org/drawingml/2006/main" w="9525">
            <a:solidFill>
              <a:srgbClr val="2B3B4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4011DC6-C4B6-4444-8D2F-D0010F4A7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476750"/>
            <a:ext cx="2514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8C4C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B8C4C6"/>
                </a:solidFill>
                <a:latin typeface="Microsoft JhengHei"/>
                <a:ea typeface="Microsoft JhengHei"/>
                <a:cs typeface="Microsoft JhengHei"/>
              </a:rPr>
              <a:t>Contract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C9413B8-F05D-4E19-8CA4-64F796204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705350"/>
            <a:ext cx="2514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D8A72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D8A72F"/>
                </a:solidFill>
                <a:latin typeface="Aptos"/>
                <a:ea typeface="Aptos"/>
                <a:cs typeface="Aptos"/>
              </a:rPr>
              <a:t>0x37b0…7Fb9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7954CCD-3A1B-45E7-B214-EC7B7309F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5105400"/>
            <a:ext cx="2514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B8C4C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>
                <a:solidFill>
                  <a:srgbClr val="B8C4C6"/>
                </a:solidFill>
                <a:latin typeface="Microsoft JhengHei"/>
                <a:ea typeface="Microsoft JhengHei"/>
                <a:cs typeface="Microsoft JhengHei"/>
              </a:rPr>
              <a:t>GoldReserveToken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F4BB2CF-2B44-4471-81EE-5970F850D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EBABE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AEBABE"/>
                </a:solidFill>
                <a:latin typeface="Aptos"/>
                <a:ea typeface="Aptos"/>
                <a:cs typeface="Aptos"/>
              </a:rPr>
              <a:t>GoldReserve RWA 專題報告 · Canva-importable PPTX</a:t>
            </a:r>
          </a:p>
        </p:txBody>
      </p:sp>
    </p:spTree>
    <p:extLst>
      <p:ext uri="{BB962C8B-B14F-4D97-AF65-F5344CB8AC3E}">
        <p14:creationId xmlns:p14="http://schemas.microsoft.com/office/powerpoint/2010/main" val="194873085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77AE8D9-6822-4BE4-9FE1-D4890F4AF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C08068-A628-4679-B413-474D816CD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A766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A766F"/>
                </a:solidFill>
                <a:latin typeface="Aptos"/>
                <a:ea typeface="Aptos"/>
                <a:cs typeface="Aptos"/>
              </a:rPr>
              <a:t>MARKET PAIN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F5A60C-3BFE-4F41-9EDF-76503A79B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8572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91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10191C"/>
                </a:solidFill>
                <a:latin typeface="Microsoft JhengHei"/>
                <a:ea typeface="Microsoft JhengHei"/>
                <a:cs typeface="Microsoft JhengHei"/>
              </a:rPr>
              <a:t>黃金投資的關鍵問題不是持有，而是驗證、分割與退出。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E76BCC-1B25-44C9-87EE-CCD9D8CD2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38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5707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57073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23A79A-02F5-4770-B03D-D329C4119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09750"/>
            <a:ext cx="31432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D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218BD5-CBBB-4B0D-89DF-5C6E56F1E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9431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A72F"/>
          </a:solidFill>
          <a:ln xmlns:a="http://schemas.openxmlformats.org/drawingml/2006/main" w="0">
            <a:solidFill>
              <a:srgbClr val="D8A72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87AC21-B759-47CB-928D-EA3D3EE6F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09775"/>
            <a:ext cx="3238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0191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0191C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207C9B-3557-45C3-997C-7F57059C7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943100"/>
            <a:ext cx="2457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91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0191C"/>
                </a:solidFill>
                <a:latin typeface="Microsoft JhengHei"/>
                <a:ea typeface="Microsoft JhengHei"/>
                <a:cs typeface="Microsoft JhengHei"/>
              </a:rPr>
              <a:t>門檻與保管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7FCD37-8D8D-43DD-B80A-20B6AE568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05050"/>
            <a:ext cx="280035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570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0">
                <a:solidFill>
                  <a:srgbClr val="657073"/>
                </a:solidFill>
                <a:latin typeface="Microsoft JhengHei"/>
                <a:ea typeface="Microsoft JhengHei"/>
                <a:cs typeface="Microsoft JhengHei"/>
              </a:rPr>
              <a:t>小額投資人不一定能直接保管實體黃金，倉儲、保險、運送與鑑定成本提高參與門檻。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04B62A-1DF8-4A66-A801-9B127FC25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809750"/>
            <a:ext cx="31432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D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D4C5E4-2AD6-4298-BC65-0DE93578C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9431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A72F"/>
          </a:solidFill>
          <a:ln xmlns:a="http://schemas.openxmlformats.org/drawingml/2006/main" w="0">
            <a:solidFill>
              <a:srgbClr val="D8A72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6226E0-D0E7-44CD-8631-F780289F5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009775"/>
            <a:ext cx="3238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0191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0191C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94129E-26A5-4C28-B0C6-9C4CFEF60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1943100"/>
            <a:ext cx="2457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91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0191C"/>
                </a:solidFill>
                <a:latin typeface="Microsoft JhengHei"/>
                <a:ea typeface="Microsoft JhengHei"/>
                <a:cs typeface="Microsoft JhengHei"/>
              </a:rPr>
              <a:t>儲備透明度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8260B66-19D7-4D89-92A1-EB9C97B8C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305050"/>
            <a:ext cx="280035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570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0">
                <a:solidFill>
                  <a:srgbClr val="657073"/>
                </a:solidFill>
                <a:latin typeface="Microsoft JhengHei"/>
                <a:ea typeface="Microsoft JhengHei"/>
                <a:cs typeface="Microsoft JhengHei"/>
              </a:rPr>
              <a:t>投資人難以即時確認黃金庫存、審計狀態與發行量是否一致，資訊常分散在鏈下文件。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B688594-3E1E-46A6-854B-EBFBD6259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809750"/>
            <a:ext cx="31432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D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070CCEE-E4BD-455A-B7CC-C538022DC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9431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A72F"/>
          </a:solidFill>
          <a:ln xmlns:a="http://schemas.openxmlformats.org/drawingml/2006/main" w="0">
            <a:solidFill>
              <a:srgbClr val="D8A72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327F592-3DB3-4ACF-B032-D6DC0C917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009775"/>
            <a:ext cx="3238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0191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0191C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6E3BE93-290D-4E7E-9E0A-934044D5C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1943100"/>
            <a:ext cx="2457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91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0191C"/>
                </a:solidFill>
                <a:latin typeface="Microsoft JhengHei"/>
                <a:ea typeface="Microsoft JhengHei"/>
                <a:cs typeface="Microsoft JhengHei"/>
              </a:rPr>
              <a:t>流動與贖回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0AD9AC1-7A94-4144-B479-AA52624F8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305050"/>
            <a:ext cx="280035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570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0">
                <a:solidFill>
                  <a:srgbClr val="657073"/>
                </a:solidFill>
                <a:latin typeface="Microsoft JhengHei"/>
                <a:ea typeface="Microsoft JhengHei"/>
                <a:cs typeface="Microsoft JhengHei"/>
              </a:rPr>
              <a:t>傳統黃金產品的轉讓與贖回流程缺少即時紀錄，平台、保管方、投資人之間難以同步。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06BC60A-A86D-44D8-84FE-506CFA54D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57750"/>
            <a:ext cx="103632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91C"/>
          </a:solidFill>
          <a:ln xmlns:a="http://schemas.openxmlformats.org/drawingml/2006/main" w="0">
            <a:solidFill>
              <a:srgbClr val="10191C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D854407-F2B0-41DE-BB30-49A5DB330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010150"/>
            <a:ext cx="9810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RWA 設計切入點：把完整文件留在鏈下，把可驗證摘要與權限事件放上鏈。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37EDCC4-E6BC-4873-9319-6A49E9B0F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5707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57073"/>
                </a:solidFill>
                <a:latin typeface="Aptos"/>
                <a:ea typeface="Aptos"/>
                <a:cs typeface="Aptos"/>
              </a:rPr>
              <a:t>Source: GoldReserve project README, RWA Design Workshop requirements</a:t>
            </a:r>
          </a:p>
        </p:txBody>
      </p:sp>
    </p:spTree>
    <p:extLst>
      <p:ext uri="{BB962C8B-B14F-4D97-AF65-F5344CB8AC3E}">
        <p14:creationId xmlns:p14="http://schemas.microsoft.com/office/powerpoint/2010/main" val="33525201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A1C11DB-F96F-4056-ACB7-71043FC1A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DB0D09-E452-41B6-A922-DB0048F14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A766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A766F"/>
                </a:solidFill>
                <a:latin typeface="Aptos"/>
                <a:ea typeface="Aptos"/>
                <a:cs typeface="Aptos"/>
              </a:rPr>
              <a:t>SOLUTION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C51E81-D499-43A9-A07C-56B07E0AF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8572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91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10191C"/>
                </a:solidFill>
                <a:latin typeface="Microsoft JhengHei"/>
                <a:ea typeface="Microsoft JhengHei"/>
                <a:cs typeface="Microsoft JhengHei"/>
              </a:rPr>
              <a:t>GGT 用一條簡單規則，把黃金儲備轉成可驗證的數位權益。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8DC416-CE7E-4EF0-8BE9-779B24B44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38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5707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57073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DAE5B5-8F16-4FD7-AD06-B2653F9D1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38300"/>
            <a:ext cx="34290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D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1AF079-D322-4095-BEBF-274AED9C7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809750"/>
            <a:ext cx="3086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570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657073"/>
                </a:solidFill>
                <a:latin typeface="Microsoft JhengHei"/>
                <a:ea typeface="Microsoft JhengHei"/>
                <a:cs typeface="Microsoft JhengHei"/>
              </a:rPr>
              <a:t>Backing rule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48B155-F482-4FAF-B94F-45B05BB00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038350"/>
            <a:ext cx="3086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8F6719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8F6719"/>
                </a:solidFill>
                <a:latin typeface="Aptos"/>
                <a:ea typeface="Aptos"/>
                <a:cs typeface="Aptos"/>
              </a:rPr>
              <a:t>1 GGT = 1 gram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2FC215-78A6-4C1C-99C5-EBB17833A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90800"/>
            <a:ext cx="3086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570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>
                <a:solidFill>
                  <a:srgbClr val="657073"/>
                </a:solidFill>
                <a:latin typeface="Microsoft JhengHei"/>
                <a:ea typeface="Microsoft JhengHei"/>
                <a:cs typeface="Microsoft JhengHei"/>
              </a:rPr>
              <a:t>0 decimals for gram-level clarity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91DD64-D6D8-47C2-B55A-7FA2C8889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1638300"/>
            <a:ext cx="28575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D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F37CA3-4561-4511-8808-B5526B6C4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1809750"/>
            <a:ext cx="2514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570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657073"/>
                </a:solidFill>
                <a:latin typeface="Microsoft JhengHei"/>
                <a:ea typeface="Microsoft JhengHei"/>
                <a:cs typeface="Microsoft JhengHei"/>
              </a:rPr>
              <a:t>Reserve proof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CCD368-2C3F-447D-8018-1707BA318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038350"/>
            <a:ext cx="2514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A766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A766F"/>
                </a:solidFill>
                <a:latin typeface="Aptos"/>
                <a:ea typeface="Aptos"/>
                <a:cs typeface="Aptos"/>
              </a:rPr>
              <a:t>proof hash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9A3452-8707-4E59-9EA9-9746A7998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590800"/>
            <a:ext cx="2514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570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>
                <a:solidFill>
                  <a:srgbClr val="657073"/>
                </a:solidFill>
                <a:latin typeface="Microsoft JhengHei"/>
                <a:ea typeface="Microsoft JhengHei"/>
                <a:cs typeface="Microsoft JhengHei"/>
              </a:rPr>
              <a:t>Documents stay offchain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3C5B96-35F2-4AAD-A065-47FA9DF67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1638300"/>
            <a:ext cx="31432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D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EA97A2-FC4F-4421-96F0-1ADC67573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809750"/>
            <a:ext cx="2800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570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657073"/>
                </a:solidFill>
                <a:latin typeface="Microsoft JhengHei"/>
                <a:ea typeface="Microsoft JhengHei"/>
                <a:cs typeface="Microsoft JhengHei"/>
              </a:rPr>
              <a:t>Supply guard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1D6D81B-722F-49F6-B063-A39F76EF0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038350"/>
            <a:ext cx="2800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91C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0191C"/>
                </a:solidFill>
                <a:latin typeface="Aptos"/>
                <a:ea typeface="Aptos"/>
                <a:cs typeface="Aptos"/>
              </a:rPr>
              <a:t>mint ≤ reserve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FC664D9-DBC3-46A5-9690-C6FF3660F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590800"/>
            <a:ext cx="28003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570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>
                <a:solidFill>
                  <a:srgbClr val="657073"/>
                </a:solidFill>
                <a:latin typeface="Microsoft JhengHei"/>
                <a:ea typeface="Microsoft JhengHei"/>
                <a:cs typeface="Microsoft JhengHei"/>
              </a:rPr>
              <a:t>Issuance bounded by audited grams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CFCCC76-8CBC-4D87-9A27-9049F2841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505200"/>
            <a:ext cx="9906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4"/>
          </a:solidFill>
          <a:ln xmlns:a="http://schemas.openxmlformats.org/drawingml/2006/main" w="9525">
            <a:solidFill>
              <a:srgbClr val="E7D28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8EA5CFB-A93B-497B-934B-DFFEC781F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752850"/>
            <a:ext cx="114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8F67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8F6719"/>
                </a:solidFill>
                <a:latin typeface="Microsoft JhengHei"/>
                <a:ea typeface="Microsoft JhengHei"/>
                <a:cs typeface="Microsoft JhengHei"/>
              </a:rPr>
              <a:t>產品主張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6DEE5BD-76A4-4402-954A-1ADD9A46D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981450"/>
            <a:ext cx="9239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91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0191C"/>
                </a:solidFill>
                <a:latin typeface="Microsoft JhengHei"/>
                <a:ea typeface="Microsoft JhengHei"/>
                <a:cs typeface="Microsoft JhengHei"/>
              </a:rPr>
              <a:t>投資人不需要直接接觸完整黃金文件，也能透過 proof hash、發行量、儲備覆蓋率與鏈上事件驗證平台狀態。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03BBEB5-6B53-4533-A7AA-ED5187CC1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238750"/>
            <a:ext cx="24765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D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0199E78-206F-4198-BD09-F16DA8870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391150"/>
            <a:ext cx="2133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91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0191C"/>
                </a:solidFill>
                <a:latin typeface="Microsoft JhengHei"/>
                <a:ea typeface="Microsoft JhengHei"/>
                <a:cs typeface="Microsoft JhengHei"/>
              </a:rPr>
              <a:t>鏈下保管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A3B3CB3-66FE-420D-971C-F04CDDE04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734050"/>
            <a:ext cx="2133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570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0">
                <a:solidFill>
                  <a:srgbClr val="657073"/>
                </a:solidFill>
                <a:latin typeface="Microsoft JhengHei"/>
                <a:ea typeface="Microsoft JhengHei"/>
                <a:cs typeface="Microsoft JhengHei"/>
              </a:rPr>
              <a:t>黃金、審計報告、保管文件、提領流程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581288C-452E-4DC8-96F9-6D3048068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5238750"/>
            <a:ext cx="28575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D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EA36E8A-B695-48A5-9C91-185C0B90B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391150"/>
            <a:ext cx="2514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91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0191C"/>
                </a:solidFill>
                <a:latin typeface="Microsoft JhengHei"/>
                <a:ea typeface="Microsoft JhengHei"/>
                <a:cs typeface="Microsoft JhengHei"/>
              </a:rPr>
              <a:t>鏈上證明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6944B98-1689-4333-A2D5-9D8294FDA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734050"/>
            <a:ext cx="2514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570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0">
                <a:solidFill>
                  <a:srgbClr val="657073"/>
                </a:solidFill>
                <a:latin typeface="Microsoft JhengHei"/>
                <a:ea typeface="Microsoft JhengHei"/>
                <a:cs typeface="Microsoft JhengHei"/>
              </a:rPr>
              <a:t>reserveGrams、latestProofHash、totalSupply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1C18E42-23D7-4246-91B8-11487FE5C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5238750"/>
            <a:ext cx="2667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D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2AD2B7D-A60D-4C85-B9C7-D308E92C5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5391150"/>
            <a:ext cx="2324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91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0191C"/>
                </a:solidFill>
                <a:latin typeface="Microsoft JhengHei"/>
                <a:ea typeface="Microsoft JhengHei"/>
                <a:cs typeface="Microsoft JhengHei"/>
              </a:rPr>
              <a:t>前端操作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4EC3434-6882-43FE-8194-83A912095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5734050"/>
            <a:ext cx="2324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570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0">
                <a:solidFill>
                  <a:srgbClr val="657073"/>
                </a:solidFill>
                <a:latin typeface="Microsoft JhengHei"/>
                <a:ea typeface="Microsoft JhengHei"/>
                <a:cs typeface="Microsoft JhengHei"/>
              </a:rPr>
              <a:t>投資人申請、管理者審核、贖回燒毀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C8C2E50-FC7A-4DA6-B0C5-D24171794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5707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57073"/>
                </a:solidFill>
                <a:latin typeface="Aptos"/>
                <a:ea typeface="Aptos"/>
                <a:cs typeface="Aptos"/>
              </a:rPr>
              <a:t>Design: GGT token model and GoldReserveToken contract</a:t>
            </a:r>
          </a:p>
        </p:txBody>
      </p:sp>
    </p:spTree>
    <p:extLst>
      <p:ext uri="{BB962C8B-B14F-4D97-AF65-F5344CB8AC3E}">
        <p14:creationId xmlns:p14="http://schemas.microsoft.com/office/powerpoint/2010/main" val="29110065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B928BB2-29FC-4774-AEB0-1B348FBCA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7FB9AC-34C2-4975-B413-04DA2F64A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A766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A766F"/>
                </a:solidFill>
                <a:latin typeface="Aptos"/>
                <a:ea typeface="Aptos"/>
                <a:cs typeface="Aptos"/>
              </a:rPr>
              <a:t>USER 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1E1017-2B44-4F82-ACA8-CCAB5BCC7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8572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91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10191C"/>
                </a:solidFill>
                <a:latin typeface="Microsoft JhengHei"/>
                <a:ea typeface="Microsoft JhengHei"/>
                <a:cs typeface="Microsoft JhengHei"/>
              </a:rPr>
              <a:t>投資人能申請與贖回，但發行權限保留給管理者。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444F1B-A06E-4995-8370-F7B6A6D6E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38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5707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57073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D193D0-8271-44FF-BB98-D70A6AD34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00250"/>
            <a:ext cx="195262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D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87B99C-60A1-4ADC-973B-A388B2137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336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A72F"/>
          </a:solidFill>
          <a:ln xmlns:a="http://schemas.openxmlformats.org/drawingml/2006/main" w="0">
            <a:solidFill>
              <a:srgbClr val="D8A72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9E7AB4-A757-4885-B487-689DB9B94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00275"/>
            <a:ext cx="3238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0191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0191C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3A447E-B1A6-4176-B41C-3BB8AC427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133600"/>
            <a:ext cx="12668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91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0191C"/>
                </a:solidFill>
                <a:latin typeface="Microsoft JhengHei"/>
                <a:ea typeface="Microsoft JhengHei"/>
                <a:cs typeface="Microsoft JhengHei"/>
              </a:rPr>
              <a:t>申請認購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6272A7-368D-4FDE-A9D6-45E6116FB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95550"/>
            <a:ext cx="16097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570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0">
                <a:solidFill>
                  <a:srgbClr val="657073"/>
                </a:solidFill>
                <a:latin typeface="Microsoft JhengHei"/>
                <a:ea typeface="Microsoft JhengHei"/>
                <a:cs typeface="Microsoft JhengHei"/>
              </a:rPr>
              <a:t>投資人連接 MetaMask，送出 GGT 認購數量。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C69660-B423-41FD-803F-BB49C73F6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714625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72F"/>
          </a:solidFill>
          <a:ln xmlns:a="http://schemas.openxmlformats.org/drawingml/2006/main" w="0">
            <a:solidFill>
              <a:srgbClr val="D8A72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3B506A-05EC-474E-A519-5CB915B75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000250"/>
            <a:ext cx="195262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F8E8"/>
          </a:solidFill>
          <a:ln xmlns:a="http://schemas.openxmlformats.org/drawingml/2006/main" w="9525">
            <a:solidFill>
              <a:srgbClr val="D8A72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8BB2AB-2C2B-420A-BCAE-9F0612842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1336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A72F"/>
          </a:solidFill>
          <a:ln xmlns:a="http://schemas.openxmlformats.org/drawingml/2006/main" w="0">
            <a:solidFill>
              <a:srgbClr val="D8A72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319D76-B02A-4A9E-9C19-8FB57052F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200275"/>
            <a:ext cx="3238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0191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0191C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316DAC9-E13D-4488-910C-7D1CD7CC4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133600"/>
            <a:ext cx="12668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91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0191C"/>
                </a:solidFill>
                <a:latin typeface="Microsoft JhengHei"/>
                <a:ea typeface="Microsoft JhengHei"/>
                <a:cs typeface="Microsoft JhengHei"/>
              </a:rPr>
              <a:t>合規審核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BB2A7D-1055-4919-9002-C0387E64F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95550"/>
            <a:ext cx="16097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570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0">
                <a:solidFill>
                  <a:srgbClr val="657073"/>
                </a:solidFill>
                <a:latin typeface="Microsoft JhengHei"/>
                <a:ea typeface="Microsoft JhengHei"/>
                <a:cs typeface="Microsoft JhengHei"/>
              </a:rPr>
              <a:t>管理者載入申請，執行白名單與風險檢查。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55F5593-2F43-45DF-B253-AAC8037D8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714625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72F"/>
          </a:solidFill>
          <a:ln xmlns:a="http://schemas.openxmlformats.org/drawingml/2006/main" w="0">
            <a:solidFill>
              <a:srgbClr val="D8A72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4575C4B-FB49-44D4-B9CF-818B71C5B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000250"/>
            <a:ext cx="195262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F8E8"/>
          </a:solidFill>
          <a:ln xmlns:a="http://schemas.openxmlformats.org/drawingml/2006/main" w="9525">
            <a:solidFill>
              <a:srgbClr val="D8A72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470446A-172A-4541-BD92-C2542A0D7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1336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A72F"/>
          </a:solidFill>
          <a:ln xmlns:a="http://schemas.openxmlformats.org/drawingml/2006/main" w="0">
            <a:solidFill>
              <a:srgbClr val="D8A72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42556DD-75DC-4857-9A30-9D359FEA8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200275"/>
            <a:ext cx="3238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0191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0191C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C8F9F26-7126-4964-A789-71F06D835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133600"/>
            <a:ext cx="12668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91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0191C"/>
                </a:solidFill>
                <a:latin typeface="Microsoft JhengHei"/>
                <a:ea typeface="Microsoft JhengHei"/>
                <a:cs typeface="Microsoft JhengHei"/>
              </a:rPr>
              <a:t>儲備發行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FE8404A-3CF7-4456-9A9E-6E9119A0F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495550"/>
            <a:ext cx="16097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570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0">
                <a:solidFill>
                  <a:srgbClr val="657073"/>
                </a:solidFill>
                <a:latin typeface="Microsoft JhengHei"/>
                <a:ea typeface="Microsoft JhengHei"/>
                <a:cs typeface="Microsoft JhengHei"/>
              </a:rPr>
              <a:t>Issuer / Owner 依 reserve proof 發行 GGT。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458EE47-7F7B-4FEE-A0C5-E7C5F1901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714625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72F"/>
          </a:solidFill>
          <a:ln xmlns:a="http://schemas.openxmlformats.org/drawingml/2006/main" w="0">
            <a:solidFill>
              <a:srgbClr val="D8A72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D9BE34F-E6BC-4F6F-B110-69C9962F9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000250"/>
            <a:ext cx="195262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D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0E45DEF-1D16-427B-BF3E-4BF9EB1F7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1336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A72F"/>
          </a:solidFill>
          <a:ln xmlns:a="http://schemas.openxmlformats.org/drawingml/2006/main" w="0">
            <a:solidFill>
              <a:srgbClr val="D8A72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BC57B5A-1670-40B6-A1C6-AAB0E6F14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200275"/>
            <a:ext cx="3238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0191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0191C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F26DE61-1521-436F-8FDC-E25ED2DD5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133600"/>
            <a:ext cx="12668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91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0191C"/>
                </a:solidFill>
                <a:latin typeface="Microsoft JhengHei"/>
                <a:ea typeface="Microsoft JhengHei"/>
                <a:cs typeface="Microsoft JhengHei"/>
              </a:rPr>
              <a:t>持有查看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390AFE7-B7F9-42DB-9406-D96FE0798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495550"/>
            <a:ext cx="16097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570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0">
                <a:solidFill>
                  <a:srgbClr val="657073"/>
                </a:solidFill>
                <a:latin typeface="Microsoft JhengHei"/>
                <a:ea typeface="Microsoft JhengHei"/>
                <a:cs typeface="Microsoft JhengHei"/>
              </a:rPr>
              <a:t>投資人刷新鏈上餘額與公開 proof 資訊。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5198F7B-EDF7-4D48-8C99-32F4CC937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714625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72F"/>
          </a:solidFill>
          <a:ln xmlns:a="http://schemas.openxmlformats.org/drawingml/2006/main" w="0">
            <a:solidFill>
              <a:srgbClr val="D8A72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AFEEB70-B681-40BF-9AE0-2A7C2B79F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000250"/>
            <a:ext cx="195262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D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5943C8E-FAA0-420E-BBDD-C33B67C52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1336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A72F"/>
          </a:solidFill>
          <a:ln xmlns:a="http://schemas.openxmlformats.org/drawingml/2006/main" w="0">
            <a:solidFill>
              <a:srgbClr val="D8A72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A2C7E54-76B1-46EE-B755-F3430378F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200275"/>
            <a:ext cx="3238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0191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0191C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36791A9-1D34-43EC-9710-2B5138198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2133600"/>
            <a:ext cx="12668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91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0191C"/>
                </a:solidFill>
                <a:latin typeface="Microsoft JhengHei"/>
                <a:ea typeface="Microsoft JhengHei"/>
                <a:cs typeface="Microsoft JhengHei"/>
              </a:rPr>
              <a:t>贖回燒毀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89F389A-6DD2-4A24-B97B-0D3C7ED29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495550"/>
            <a:ext cx="16097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570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0">
                <a:solidFill>
                  <a:srgbClr val="657073"/>
                </a:solidFill>
                <a:latin typeface="Microsoft JhengHei"/>
                <a:ea typeface="Microsoft JhengHei"/>
                <a:cs typeface="Microsoft JhengHei"/>
              </a:rPr>
              <a:t>投資人呼叫 burnForRedemption 申請實體提領。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7E87B95-DEA4-43B7-B6D9-62424AD73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572000"/>
            <a:ext cx="4857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2"/>
          </a:solidFill>
          <a:ln xmlns:a="http://schemas.openxmlformats.org/drawingml/2006/main" w="9525">
            <a:solidFill>
              <a:srgbClr val="B8D8D4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F0644FD-54DE-401A-8938-6B0C3FAED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743450"/>
            <a:ext cx="152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A76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1A766F"/>
                </a:solidFill>
                <a:latin typeface="Microsoft JhengHei"/>
                <a:ea typeface="Microsoft JhengHei"/>
                <a:cs typeface="Microsoft JhengHei"/>
              </a:rPr>
              <a:t>投資人權限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A91F01C-9EA1-4B51-B8A1-4C5EE0A66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029200"/>
            <a:ext cx="438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91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0191C"/>
                </a:solidFill>
                <a:latin typeface="Microsoft JhengHei"/>
                <a:ea typeface="Microsoft JhengHei"/>
                <a:cs typeface="Microsoft JhengHei"/>
              </a:rPr>
              <a:t>申請、查看餘額、贖回自己的 GGT。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2EDDDA0-1EE6-4C81-B0AA-B204A3E9B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572000"/>
            <a:ext cx="4857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4"/>
          </a:solidFill>
          <a:ln xmlns:a="http://schemas.openxmlformats.org/drawingml/2006/main" w="9525">
            <a:solidFill>
              <a:srgbClr val="E7D28C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2202A76-8188-4B18-B574-87332E7E2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743450"/>
            <a:ext cx="152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8F67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8F6719"/>
                </a:solidFill>
                <a:latin typeface="Microsoft JhengHei"/>
                <a:ea typeface="Microsoft JhengHei"/>
                <a:cs typeface="Microsoft JhengHei"/>
              </a:rPr>
              <a:t>管理者權限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2BD2A6A-8BA0-4217-AF64-9C7CAC693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5029200"/>
            <a:ext cx="438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91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0191C"/>
                </a:solidFill>
                <a:latin typeface="Microsoft JhengHei"/>
                <a:ea typeface="Microsoft JhengHei"/>
                <a:cs typeface="Microsoft JhengHei"/>
              </a:rPr>
              <a:t>更新儲備、白名單、發行、凍結、暫停。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225A0FB-6465-48B6-939D-D1AD55B79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5707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57073"/>
                </a:solidFill>
                <a:latin typeface="Aptos"/>
                <a:ea typeface="Aptos"/>
                <a:cs typeface="Aptos"/>
              </a:rPr>
              <a:t>Product flow: investor page + admin page</a:t>
            </a:r>
          </a:p>
        </p:txBody>
      </p:sp>
    </p:spTree>
    <p:extLst>
      <p:ext uri="{BB962C8B-B14F-4D97-AF65-F5344CB8AC3E}">
        <p14:creationId xmlns:p14="http://schemas.microsoft.com/office/powerpoint/2010/main" val="697597014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DF931C2-0DCE-4681-942C-6C101C1DA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805E0C-5C44-41E5-8D69-AD928F507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A766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A766F"/>
                </a:solidFill>
                <a:latin typeface="Aptos"/>
                <a:ea typeface="Aptos"/>
                <a:cs typeface="Aptos"/>
              </a:rPr>
              <a:t>TOKENOMICS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269A7A-810F-45AC-BA09-04CED0A22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8572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91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10191C"/>
                </a:solidFill>
                <a:latin typeface="Microsoft JhengHei"/>
                <a:ea typeface="Microsoft JhengHei"/>
                <a:cs typeface="Microsoft JhengHei"/>
              </a:rPr>
              <a:t>GGT 的代幣經濟設計重點是儲備約束，而不是無限制發行。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605C78-2492-4C27-8FEF-1CAE9C6D5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38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5707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57073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569501-9363-42E3-9B15-35ED42C0E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19250"/>
            <a:ext cx="103822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D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EAC7BE-AB74-483B-AC7B-991F4D589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866900"/>
            <a:ext cx="2000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570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657073"/>
                </a:solidFill>
                <a:latin typeface="Microsoft JhengHei"/>
                <a:ea typeface="Microsoft JhengHei"/>
                <a:cs typeface="Microsoft JhengHei"/>
              </a:rPr>
              <a:t>項目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AF4739-D035-4D9F-97BA-B621C0787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1866900"/>
            <a:ext cx="3143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570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657073"/>
                </a:solidFill>
                <a:latin typeface="Microsoft JhengHei"/>
                <a:ea typeface="Microsoft JhengHei"/>
                <a:cs typeface="Microsoft JhengHei"/>
              </a:rPr>
              <a:t>設計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AA7384-C7DF-45BE-B7C9-9EC0364CF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1866900"/>
            <a:ext cx="3143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570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657073"/>
                </a:solidFill>
                <a:latin typeface="Microsoft JhengHei"/>
                <a:ea typeface="Microsoft JhengHei"/>
                <a:cs typeface="Microsoft JhengHei"/>
              </a:rPr>
              <a:t>說明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03D8EF-8D6B-4E13-9F8A-AC71DF63C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90750"/>
            <a:ext cx="9982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D8"/>
          </a:solidFill>
          <a:ln xmlns:a="http://schemas.openxmlformats.org/drawingml/2006/main" w="0">
            <a:solidFill>
              <a:srgbClr val="D9DED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D2BFCF-AC9D-4093-9001-B91957054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28600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91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0191C"/>
                </a:solidFill>
                <a:latin typeface="Microsoft JhengHei"/>
                <a:ea typeface="Microsoft JhengHei"/>
                <a:cs typeface="Microsoft JhengHei"/>
              </a:rPr>
              <a:t>代幣名稱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66F538-CF32-4777-92CF-B37EFBFA0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286000"/>
            <a:ext cx="3143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91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0191C"/>
                </a:solidFill>
                <a:latin typeface="Microsoft JhengHei"/>
                <a:ea typeface="Microsoft JhengHei"/>
                <a:cs typeface="Microsoft JhengHei"/>
              </a:rPr>
              <a:t>GGT · Gold Gram Token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75AC41-AB09-4BC5-BC5D-454BA0FB5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286000"/>
            <a:ext cx="3143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570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657073"/>
                </a:solidFill>
                <a:latin typeface="Microsoft JhengHei"/>
                <a:ea typeface="Microsoft JhengHei"/>
                <a:cs typeface="Microsoft JhengHei"/>
              </a:rPr>
              <a:t>以黃金克數作為單位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7814A8-7201-495A-9425-785E80828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81300"/>
            <a:ext cx="9982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D8"/>
          </a:solidFill>
          <a:ln xmlns:a="http://schemas.openxmlformats.org/drawingml/2006/main" w="0">
            <a:solidFill>
              <a:srgbClr val="D9DED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4F1DD61-5912-473B-B7CE-720DD74CE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87655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91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0191C"/>
                </a:solidFill>
                <a:latin typeface="Microsoft JhengHei"/>
                <a:ea typeface="Microsoft JhengHei"/>
                <a:cs typeface="Microsoft JhengHei"/>
              </a:rPr>
              <a:t>資產 backing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2DCF992-2B47-463E-8CC1-95F96E6C1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876550"/>
            <a:ext cx="3143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8F67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8F6719"/>
                </a:solidFill>
                <a:latin typeface="Microsoft JhengHei"/>
                <a:ea typeface="Microsoft JhengHei"/>
                <a:cs typeface="Microsoft JhengHei"/>
              </a:rPr>
              <a:t>1 GGT = 1 克黃金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FD4E856-ACAF-497F-8DAA-90608C689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876550"/>
            <a:ext cx="3143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570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657073"/>
                </a:solidFill>
                <a:latin typeface="Microsoft JhengHei"/>
                <a:ea typeface="Microsoft JhengHei"/>
                <a:cs typeface="Microsoft JhengHei"/>
              </a:rPr>
              <a:t>儲備保管於鏈下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33A4F44-18BF-4D20-AE91-7C79F7B48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71850"/>
            <a:ext cx="9982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D8"/>
          </a:solidFill>
          <a:ln xmlns:a="http://schemas.openxmlformats.org/drawingml/2006/main" w="0">
            <a:solidFill>
              <a:srgbClr val="D9DED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CF44450-1D04-4D05-BB97-25C90648E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46710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91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0191C"/>
                </a:solidFill>
                <a:latin typeface="Microsoft JhengHei"/>
                <a:ea typeface="Microsoft JhengHei"/>
                <a:cs typeface="Microsoft JhengHei"/>
              </a:rPr>
              <a:t>發行條件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42F2890-252F-4C1C-BB92-2E41B79BC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467100"/>
            <a:ext cx="3143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91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0191C"/>
                </a:solidFill>
                <a:latin typeface="Microsoft JhengHei"/>
                <a:ea typeface="Microsoft JhengHei"/>
                <a:cs typeface="Microsoft JhengHei"/>
              </a:rPr>
              <a:t>totalSupply + amount ≤ reserveGrams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1C1F329-64DF-42F2-BD8D-331552A98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467100"/>
            <a:ext cx="3143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570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657073"/>
                </a:solidFill>
                <a:latin typeface="Microsoft JhengHei"/>
                <a:ea typeface="Microsoft JhengHei"/>
                <a:cs typeface="Microsoft JhengHei"/>
              </a:rPr>
              <a:t>由 Issuer / Owner 執行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1AC6644-4D93-4EFE-AE23-13BB28E3B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962400"/>
            <a:ext cx="9982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D8"/>
          </a:solidFill>
          <a:ln xmlns:a="http://schemas.openxmlformats.org/drawingml/2006/main" w="0">
            <a:solidFill>
              <a:srgbClr val="D9DED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50BF53B-C519-4782-89FC-00258E5E0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05765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91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0191C"/>
                </a:solidFill>
                <a:latin typeface="Microsoft JhengHei"/>
                <a:ea typeface="Microsoft JhengHei"/>
                <a:cs typeface="Microsoft JhengHei"/>
              </a:rPr>
              <a:t>贖回條件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BB44E69-1D5C-479A-9A8A-76832F5A8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057650"/>
            <a:ext cx="3143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91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0191C"/>
                </a:solidFill>
                <a:latin typeface="Microsoft JhengHei"/>
                <a:ea typeface="Microsoft JhengHei"/>
                <a:cs typeface="Microsoft JhengHei"/>
              </a:rPr>
              <a:t>白名單、未凍結、持有足夠 GGT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4D5D99D-A7F8-4F20-A015-296E9BE65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057650"/>
            <a:ext cx="3143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570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657073"/>
                </a:solidFill>
                <a:latin typeface="Microsoft JhengHei"/>
                <a:ea typeface="Microsoft JhengHei"/>
                <a:cs typeface="Microsoft JhengHei"/>
              </a:rPr>
              <a:t>成功後鏈上 burn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E099BDB-51BF-4F8B-B2B6-EDB26C060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552950"/>
            <a:ext cx="9982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D8"/>
          </a:solidFill>
          <a:ln xmlns:a="http://schemas.openxmlformats.org/drawingml/2006/main" w="0">
            <a:solidFill>
              <a:srgbClr val="D9DED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F1D79DC-757C-4CF7-A4DB-793D7B939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64820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91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0191C"/>
                </a:solidFill>
                <a:latin typeface="Microsoft JhengHei"/>
                <a:ea typeface="Microsoft JhengHei"/>
                <a:cs typeface="Microsoft JhengHei"/>
              </a:rPr>
              <a:t>費用來源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93A8BFC-1564-4088-872E-F834C10DC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648200"/>
            <a:ext cx="3143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91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0191C"/>
                </a:solidFill>
                <a:latin typeface="Microsoft JhengHei"/>
                <a:ea typeface="Microsoft JhengHei"/>
                <a:cs typeface="Microsoft JhengHei"/>
              </a:rPr>
              <a:t>管理費、保管費、贖回手續費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6CFF288-7FF9-4F90-9265-1BEDCF025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648200"/>
            <a:ext cx="3143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570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657073"/>
                </a:solidFill>
                <a:latin typeface="Microsoft JhengHei"/>
                <a:ea typeface="Microsoft JhengHei"/>
                <a:cs typeface="Microsoft JhengHei"/>
              </a:rPr>
              <a:t>本專題可在商業模式頁延伸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1D7D89E-A14A-4A50-A630-C646EE28E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76900"/>
            <a:ext cx="10382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91C"/>
          </a:solidFill>
          <a:ln xmlns:a="http://schemas.openxmlformats.org/drawingml/2006/main" w="0">
            <a:solidFill>
              <a:srgbClr val="10191C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EC7EFD4-F9CF-42DC-89A2-4ACBB26A8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753100"/>
            <a:ext cx="9906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核心約束：沒有審計儲備，就不能增加鏈上發行量。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F218700-9C1E-4BA0-9105-7B59224B6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5707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57073"/>
                </a:solidFill>
                <a:latin typeface="Aptos"/>
                <a:ea typeface="Aptos"/>
                <a:cs typeface="Aptos"/>
              </a:rPr>
              <a:t>Tokenomics Canvas: reserve-backed issuance and redemption limits</a:t>
            </a:r>
          </a:p>
        </p:txBody>
      </p:sp>
    </p:spTree>
    <p:extLst>
      <p:ext uri="{BB962C8B-B14F-4D97-AF65-F5344CB8AC3E}">
        <p14:creationId xmlns:p14="http://schemas.microsoft.com/office/powerpoint/2010/main" val="1779082916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435FF19-6EBF-44E0-A3FE-027E2EFCD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E74AEF-4228-408A-935A-3159C4597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A766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A766F"/>
                </a:solidFill>
                <a:latin typeface="Aptos"/>
                <a:ea typeface="Aptos"/>
                <a:cs typeface="Aptos"/>
              </a:rPr>
              <a:t>ARCHITECTURE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A91A07-8B3E-4D2D-AD87-B4C862C59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8572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91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10191C"/>
                </a:solidFill>
                <a:latin typeface="Microsoft JhengHei"/>
                <a:ea typeface="Microsoft JhengHei"/>
                <a:cs typeface="Microsoft JhengHei"/>
              </a:rPr>
              <a:t>架構把鏈下實物、鏈上證明與使用者介面清楚分工。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84EFEE-1E66-46DF-8ACE-26157C366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38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5707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57073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666F5B-25C9-4B94-9F68-344795F4F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81150"/>
            <a:ext cx="171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8F67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8F6719"/>
                </a:solidFill>
                <a:latin typeface="Microsoft JhengHei"/>
                <a:ea typeface="Microsoft JhengHei"/>
                <a:cs typeface="Microsoft JhengHei"/>
              </a:rPr>
              <a:t>鏈下資產層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C759B9-25D6-4141-AA89-650C9B104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581150"/>
            <a:ext cx="171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A76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1A766F"/>
                </a:solidFill>
                <a:latin typeface="Microsoft JhengHei"/>
                <a:ea typeface="Microsoft JhengHei"/>
                <a:cs typeface="Microsoft JhengHei"/>
              </a:rPr>
              <a:t>鏈上合約層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E63945-7E30-4911-A2E4-D8B97AC6B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581150"/>
            <a:ext cx="171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15C8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315C8F"/>
                </a:solidFill>
                <a:latin typeface="Microsoft JhengHei"/>
                <a:ea typeface="Microsoft JhengHei"/>
                <a:cs typeface="Microsoft JhengHei"/>
              </a:rPr>
              <a:t>平台介面層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1CA02B-C863-4C66-9092-426040B38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26670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4"/>
          </a:solidFill>
          <a:ln xmlns:a="http://schemas.openxmlformats.org/drawingml/2006/main" w="9525">
            <a:solidFill>
              <a:srgbClr val="E7D28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C5BA9A-4537-4D68-84F9-4AAA9D386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90750"/>
            <a:ext cx="2324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91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0191C"/>
                </a:solidFill>
                <a:latin typeface="Microsoft JhengHei"/>
                <a:ea typeface="Microsoft JhengHei"/>
                <a:cs typeface="Microsoft JhengHei"/>
              </a:rPr>
              <a:t>黃金保管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C80371-6D9D-4B93-983B-8108B588F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33650"/>
            <a:ext cx="2324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570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0">
                <a:solidFill>
                  <a:srgbClr val="657073"/>
                </a:solidFill>
                <a:latin typeface="Microsoft JhengHei"/>
                <a:ea typeface="Microsoft JhengHei"/>
                <a:cs typeface="Microsoft JhengHei"/>
              </a:rPr>
              <a:t>實體黃金、倉儲、保險、提領作業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2A9ED3-D29C-42CC-A940-D28E3DAEF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81400"/>
            <a:ext cx="26670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4"/>
          </a:solidFill>
          <a:ln xmlns:a="http://schemas.openxmlformats.org/drawingml/2006/main" w="9525">
            <a:solidFill>
              <a:srgbClr val="E7D28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AC4EC5-E452-4CAF-83FC-596F99363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33800"/>
            <a:ext cx="2324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91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0191C"/>
                </a:solidFill>
                <a:latin typeface="Microsoft JhengHei"/>
                <a:ea typeface="Microsoft JhengHei"/>
                <a:cs typeface="Microsoft JhengHei"/>
              </a:rPr>
              <a:t>審計文件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6BB105-E9AA-4F46-B4DC-265C48CCB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76700"/>
            <a:ext cx="2324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570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0">
                <a:solidFill>
                  <a:srgbClr val="657073"/>
                </a:solidFill>
                <a:latin typeface="Microsoft JhengHei"/>
                <a:ea typeface="Microsoft JhengHei"/>
                <a:cs typeface="Microsoft JhengHei"/>
              </a:rPr>
              <a:t>保管報告、估值、儲備證明摘要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9C0F9E8-B7B7-4A8C-AC09-672BD8450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038350"/>
            <a:ext cx="30480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2"/>
          </a:solidFill>
          <a:ln xmlns:a="http://schemas.openxmlformats.org/drawingml/2006/main" w="9525">
            <a:solidFill>
              <a:srgbClr val="B8D8D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6A446FA-5BAF-44B9-BC92-E0B671E71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190750"/>
            <a:ext cx="2705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91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0191C"/>
                </a:solidFill>
                <a:latin typeface="Microsoft JhengHei"/>
                <a:ea typeface="Microsoft JhengHei"/>
                <a:cs typeface="Microsoft JhengHei"/>
              </a:rPr>
              <a:t>GoldReserveToken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EC4FECF-F9DC-4D7D-9B7D-5B5673A1F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533650"/>
            <a:ext cx="2705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570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0">
                <a:solidFill>
                  <a:srgbClr val="657073"/>
                </a:solidFill>
                <a:latin typeface="Microsoft JhengHei"/>
                <a:ea typeface="Microsoft JhengHei"/>
                <a:cs typeface="Microsoft JhengHei"/>
              </a:rPr>
              <a:t>reserveGrams、totalSupply、latestProofHash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85C1954-D113-46D3-936E-31F23DC92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581400"/>
            <a:ext cx="30480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2"/>
          </a:solidFill>
          <a:ln xmlns:a="http://schemas.openxmlformats.org/drawingml/2006/main" w="9525">
            <a:solidFill>
              <a:srgbClr val="B8D8D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9DAA257-0F04-4E91-BA96-7ACC51EF1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733800"/>
            <a:ext cx="2705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91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0191C"/>
                </a:solidFill>
                <a:latin typeface="Microsoft JhengHei"/>
                <a:ea typeface="Microsoft JhengHei"/>
                <a:cs typeface="Microsoft JhengHei"/>
              </a:rPr>
              <a:t>權限控制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3036006-C82E-4A60-8427-FE35C3123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076700"/>
            <a:ext cx="2705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570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0">
                <a:solidFill>
                  <a:srgbClr val="657073"/>
                </a:solidFill>
                <a:latin typeface="Microsoft JhengHei"/>
                <a:ea typeface="Microsoft JhengHei"/>
                <a:cs typeface="Microsoft JhengHei"/>
              </a:rPr>
              <a:t>whitelist、frozen、paused、roles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0E2C566-8915-4D77-B062-794BE0E38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38350"/>
            <a:ext cx="28575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D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93E2429-C43D-4F31-A01C-5864C1A46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190750"/>
            <a:ext cx="2514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91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0191C"/>
                </a:solidFill>
                <a:latin typeface="Microsoft JhengHei"/>
                <a:ea typeface="Microsoft JhengHei"/>
                <a:cs typeface="Microsoft JhengHei"/>
              </a:rPr>
              <a:t>投資人頁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0C233E6-71BF-4EC5-B1A4-2507AD0FC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533650"/>
            <a:ext cx="25146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570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0">
                <a:solidFill>
                  <a:srgbClr val="657073"/>
                </a:solidFill>
                <a:latin typeface="Microsoft JhengHei"/>
                <a:ea typeface="Microsoft JhengHei"/>
                <a:cs typeface="Microsoft JhengHei"/>
              </a:rPr>
              <a:t>認購申請、餘額查詢、贖回燒毀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A07C045-7C9F-404C-9A11-DED96EB05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581400"/>
            <a:ext cx="28575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D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0FCED28-B8A0-434B-AFEF-06912D9F3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733800"/>
            <a:ext cx="2514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91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0191C"/>
                </a:solidFill>
                <a:latin typeface="Microsoft JhengHei"/>
                <a:ea typeface="Microsoft JhengHei"/>
                <a:cs typeface="Microsoft JhengHei"/>
              </a:rPr>
              <a:t>管理者頁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052BCA8-45F2-45FD-8A4F-CA0F54A00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076700"/>
            <a:ext cx="25146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570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0">
                <a:solidFill>
                  <a:srgbClr val="657073"/>
                </a:solidFill>
                <a:latin typeface="Microsoft JhengHei"/>
                <a:ea typeface="Microsoft JhengHei"/>
                <a:cs typeface="Microsoft JhengHei"/>
              </a:rPr>
              <a:t>審核申請、白名單、proof、mint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A2D4155-B215-492B-B98A-9852C63AF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590800"/>
            <a:ext cx="666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72F"/>
          </a:solidFill>
          <a:ln xmlns:a="http://schemas.openxmlformats.org/drawingml/2006/main" w="0">
            <a:solidFill>
              <a:srgbClr val="D8A72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28E623C-8438-4B8B-BAA4-13ED5BDFC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2590800"/>
            <a:ext cx="571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766F"/>
          </a:solidFill>
          <a:ln xmlns:a="http://schemas.openxmlformats.org/drawingml/2006/main" w="0">
            <a:solidFill>
              <a:srgbClr val="1A766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5982AE1-5C1F-4D69-A6CA-15B90DE42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133850"/>
            <a:ext cx="666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72F"/>
          </a:solidFill>
          <a:ln xmlns:a="http://schemas.openxmlformats.org/drawingml/2006/main" w="0">
            <a:solidFill>
              <a:srgbClr val="D8A72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4666966-6831-41F9-9BD8-2F789369C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4133850"/>
            <a:ext cx="571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766F"/>
          </a:solidFill>
          <a:ln xmlns:a="http://schemas.openxmlformats.org/drawingml/2006/main" w="0">
            <a:solidFill>
              <a:srgbClr val="1A766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E36BE0F-68D7-4824-A45F-D01C12AF1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5707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57073"/>
                </a:solidFill>
                <a:latin typeface="Aptos"/>
                <a:ea typeface="Aptos"/>
                <a:cs typeface="Aptos"/>
              </a:rPr>
              <a:t>Architecture: offchain custody + onchain proof + role-aware interface</a:t>
            </a:r>
          </a:p>
        </p:txBody>
      </p:sp>
    </p:spTree>
    <p:extLst>
      <p:ext uri="{BB962C8B-B14F-4D97-AF65-F5344CB8AC3E}">
        <p14:creationId xmlns:p14="http://schemas.microsoft.com/office/powerpoint/2010/main" val="797669335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C0D3A21-F998-42F8-9778-51161B9E7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092444-968C-40B4-A162-0DBCA8679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A766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A766F"/>
                </a:solidFill>
                <a:latin typeface="Aptos"/>
                <a:ea typeface="Aptos"/>
                <a:cs typeface="Aptos"/>
              </a:rPr>
              <a:t>ROLE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7FEF55-2D5A-4697-8310-177D5A1C0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8572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91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10191C"/>
                </a:solidFill>
                <a:latin typeface="Microsoft JhengHei"/>
                <a:ea typeface="Microsoft JhengHei"/>
                <a:cs typeface="Microsoft JhengHei"/>
              </a:rPr>
              <a:t>角色設計讓誰能做什麼在合約層被明確限制。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58AD95-8A7C-4F87-9A82-8CA1FE7F9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38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5707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57073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2CA1DF-B175-40F7-899C-6C138F358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71650"/>
            <a:ext cx="18097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91C"/>
          </a:solidFill>
          <a:ln xmlns:a="http://schemas.openxmlformats.org/drawingml/2006/main" w="9525">
            <a:solidFill>
              <a:srgbClr val="10191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853A31-9968-4608-BAE0-525D36BF2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19300"/>
            <a:ext cx="1466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D8A72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D8A72F"/>
                </a:solidFill>
                <a:latin typeface="Aptos"/>
                <a:ea typeface="Aptos"/>
                <a:cs typeface="Aptos"/>
              </a:rPr>
              <a:t>Owner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677647-82FB-46FF-85F4-8C8A1BFDF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71750"/>
            <a:ext cx="14287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DE6E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DDE6E2"/>
                </a:solidFill>
                <a:latin typeface="Microsoft JhengHei"/>
                <a:ea typeface="Microsoft JhengHei"/>
                <a:cs typeface="Microsoft JhengHei"/>
              </a:rPr>
              <a:t>白名單、凍結、暫停、角色管理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9CE5DA-25F1-4C85-8515-63A19310E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771650"/>
            <a:ext cx="18097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D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8FCEBF-224E-4194-90A3-88A74C454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019300"/>
            <a:ext cx="1466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91C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0191C"/>
                </a:solidFill>
                <a:latin typeface="Aptos"/>
                <a:ea typeface="Aptos"/>
                <a:cs typeface="Aptos"/>
              </a:rPr>
              <a:t>Auditor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D20BB8-626A-4C1E-9B3D-32A05DA0C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571750"/>
            <a:ext cx="14287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570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657073"/>
                </a:solidFill>
                <a:latin typeface="Microsoft JhengHei"/>
                <a:ea typeface="Microsoft JhengHei"/>
                <a:cs typeface="Microsoft JhengHei"/>
              </a:rPr>
              <a:t>更新 reserve proof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39EBF8-C331-44FC-923A-B4D8186E6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771650"/>
            <a:ext cx="18097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D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2F9425-9C07-44B4-B784-02FCBAFB2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019300"/>
            <a:ext cx="1466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91C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0191C"/>
                </a:solidFill>
                <a:latin typeface="Aptos"/>
                <a:ea typeface="Aptos"/>
                <a:cs typeface="Aptos"/>
              </a:rPr>
              <a:t>Issuer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C673B8-8BE2-4B5E-909F-2688158AE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571750"/>
            <a:ext cx="14287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570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657073"/>
                </a:solidFill>
                <a:latin typeface="Microsoft JhengHei"/>
                <a:ea typeface="Microsoft JhengHei"/>
                <a:cs typeface="Microsoft JhengHei"/>
              </a:rPr>
              <a:t>依儲備發行 GGT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9775B0-3D96-4518-90F5-F53D676CC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1771650"/>
            <a:ext cx="18097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D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086B74-6824-4868-86BF-2083B7C13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019300"/>
            <a:ext cx="1466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91C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0191C"/>
                </a:solidFill>
                <a:latin typeface="Aptos"/>
                <a:ea typeface="Aptos"/>
                <a:cs typeface="Aptos"/>
              </a:rPr>
              <a:t>Custodian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1C07E8E-D6AA-4DA0-A03A-EFE846A73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571750"/>
            <a:ext cx="14287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570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657073"/>
                </a:solidFill>
                <a:latin typeface="Microsoft JhengHei"/>
                <a:ea typeface="Microsoft JhengHei"/>
                <a:cs typeface="Microsoft JhengHei"/>
              </a:rPr>
              <a:t>代表保管方與鏈下資產責任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308E9F5-8FAB-4DA8-A46E-7ABA10E7F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1771650"/>
            <a:ext cx="18097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D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DF246C5-4576-45C2-9338-A7AECAB35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019300"/>
            <a:ext cx="1466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91C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0191C"/>
                </a:solidFill>
                <a:latin typeface="Aptos"/>
                <a:ea typeface="Aptos"/>
                <a:cs typeface="Aptos"/>
              </a:rPr>
              <a:t>Investor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B03F1CC-A3B5-4190-BD35-CAAADCE57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571750"/>
            <a:ext cx="14287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570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657073"/>
                </a:solidFill>
                <a:latin typeface="Microsoft JhengHei"/>
                <a:ea typeface="Microsoft JhengHei"/>
                <a:cs typeface="Microsoft JhengHei"/>
              </a:rPr>
              <a:t>申請、持有、轉讓、贖回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1A15F9F-65CA-44B6-A147-96391D0C3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857750"/>
            <a:ext cx="9906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2"/>
          </a:solidFill>
          <a:ln xmlns:a="http://schemas.openxmlformats.org/drawingml/2006/main" w="9525">
            <a:solidFill>
              <a:srgbClr val="B8D8D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CE4E86B-9A7F-4618-85DA-F9A4384BB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972050"/>
            <a:ext cx="9429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91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0191C"/>
                </a:solidFill>
                <a:latin typeface="Microsoft JhengHei"/>
                <a:ea typeface="Microsoft JhengHei"/>
                <a:cs typeface="Microsoft JhengHei"/>
              </a:rPr>
              <a:t>安全邊界：投資人不能直接 mint；發行必須通過管理角色與儲備上限檢查。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D74DBED-342F-48FF-82C8-6320F6E71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5707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57073"/>
                </a:solidFill>
                <a:latin typeface="Aptos"/>
                <a:ea typeface="Aptos"/>
                <a:cs typeface="Aptos"/>
              </a:rPr>
              <a:t>Contract Role Map: owner / auditor / issuer / custodian / investor</a:t>
            </a:r>
          </a:p>
        </p:txBody>
      </p:sp>
    </p:spTree>
    <p:extLst>
      <p:ext uri="{BB962C8B-B14F-4D97-AF65-F5344CB8AC3E}">
        <p14:creationId xmlns:p14="http://schemas.microsoft.com/office/powerpoint/2010/main" val="1923853677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62023BA-655A-4B8F-99B6-49A2B6D38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1E3DE8-6515-4AFA-868B-61B29FB91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A766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A766F"/>
                </a:solidFill>
                <a:latin typeface="Aptos"/>
                <a:ea typeface="Aptos"/>
                <a:cs typeface="Aptos"/>
              </a:rPr>
              <a:t>COMPLIANCE GATES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1B8B7A-0294-4260-925B-1566C5A16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8572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91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10191C"/>
                </a:solidFill>
                <a:latin typeface="Microsoft JhengHei"/>
                <a:ea typeface="Microsoft JhengHei"/>
                <a:cs typeface="Microsoft JhengHei"/>
              </a:rPr>
              <a:t>合規控制不是一句聲明，而是可執行的產品 gate。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157DB1-6F00-4F14-AA06-45D3B6102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38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5707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57073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18B60A-5190-4983-B4C9-5F133615F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09750"/>
            <a:ext cx="3143250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2"/>
          </a:solidFill>
          <a:ln xmlns:a="http://schemas.openxmlformats.org/drawingml/2006/main" w="9525">
            <a:solidFill>
              <a:srgbClr val="B8D8D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8D7F24-0C23-4B08-A107-1E1720D02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9431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A766F"/>
          </a:solidFill>
          <a:ln xmlns:a="http://schemas.openxmlformats.org/drawingml/2006/main" w="0">
            <a:solidFill>
              <a:srgbClr val="1A766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5C4DA9-CC56-4D15-81A5-016C7B4AA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009775"/>
            <a:ext cx="3238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0191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0191C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74EC0B-AB0B-4727-8409-ECDCD0130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943100"/>
            <a:ext cx="2457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91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0191C"/>
                </a:solidFill>
                <a:latin typeface="Microsoft JhengHei"/>
                <a:ea typeface="Microsoft JhengHei"/>
                <a:cs typeface="Microsoft JhengHei"/>
              </a:rPr>
              <a:t>Whitelist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30F0A0-C9EF-405F-8445-EE72DEB66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05050"/>
            <a:ext cx="280035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570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0">
                <a:solidFill>
                  <a:srgbClr val="657073"/>
                </a:solidFill>
                <a:latin typeface="Microsoft JhengHei"/>
                <a:ea typeface="Microsoft JhengHei"/>
                <a:cs typeface="Microsoft JhengHei"/>
              </a:rPr>
              <a:t>只有白名單地址可以接收、轉讓或贖回 GGT。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274167-A8CE-42D0-93ED-C1B22C7C4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809750"/>
            <a:ext cx="3143250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4"/>
          </a:solidFill>
          <a:ln xmlns:a="http://schemas.openxmlformats.org/drawingml/2006/main" w="9525">
            <a:solidFill>
              <a:srgbClr val="E7D28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74B29E-919E-4BE4-935F-951815A21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19431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A72F"/>
          </a:solidFill>
          <a:ln xmlns:a="http://schemas.openxmlformats.org/drawingml/2006/main" w="0">
            <a:solidFill>
              <a:srgbClr val="D8A72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B33DB8-ED2B-4D09-8319-88BAFD389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009775"/>
            <a:ext cx="3238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0191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0191C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EAB3ED-44BD-4D1C-99B1-9E672544D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943100"/>
            <a:ext cx="2457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91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0191C"/>
                </a:solidFill>
                <a:latin typeface="Microsoft JhengHei"/>
                <a:ea typeface="Microsoft JhengHei"/>
                <a:cs typeface="Microsoft JhengHei"/>
              </a:rPr>
              <a:t>Frozen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0687BA3-2711-46CB-B26D-F5677B8F8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305050"/>
            <a:ext cx="280035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570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0">
                <a:solidFill>
                  <a:srgbClr val="657073"/>
                </a:solidFill>
                <a:latin typeface="Microsoft JhengHei"/>
                <a:ea typeface="Microsoft JhengHei"/>
                <a:cs typeface="Microsoft JhengHei"/>
              </a:rPr>
              <a:t>可凍結特定帳戶，阻擋高風險或待審核行為。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8F380FC-78C3-4D0D-ADB9-1485D5AC2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809750"/>
            <a:ext cx="3143250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DEE"/>
          </a:solidFill>
          <a:ln xmlns:a="http://schemas.openxmlformats.org/drawingml/2006/main" w="9525">
            <a:solidFill>
              <a:srgbClr val="E2B7B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42BB07-04A7-4CB0-B8BA-74660C3EC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9431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454D"/>
          </a:solidFill>
          <a:ln xmlns:a="http://schemas.openxmlformats.org/drawingml/2006/main" w="0">
            <a:solidFill>
              <a:srgbClr val="B4454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7CE280D-725F-4E99-88D1-4A8A0D583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009775"/>
            <a:ext cx="3238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0191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0191C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60B7AF4-C48B-41BD-B189-317D5F6E5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1943100"/>
            <a:ext cx="2457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91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0191C"/>
                </a:solidFill>
                <a:latin typeface="Microsoft JhengHei"/>
                <a:ea typeface="Microsoft JhengHei"/>
                <a:cs typeface="Microsoft JhengHei"/>
              </a:rPr>
              <a:t>Paused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C351BC9-CCBF-444B-9FA9-5D6485223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305050"/>
            <a:ext cx="280035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570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0">
                <a:solidFill>
                  <a:srgbClr val="657073"/>
                </a:solidFill>
                <a:latin typeface="Microsoft JhengHei"/>
                <a:ea typeface="Microsoft JhengHei"/>
                <a:cs typeface="Microsoft JhengHei"/>
              </a:rPr>
              <a:t>緊急時暫停合約操作，降低營運或資安事件擴散。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D629AD6-854E-40F1-BF48-447516597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95750"/>
            <a:ext cx="106489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91C"/>
          </a:solidFill>
          <a:ln xmlns:a="http://schemas.openxmlformats.org/drawingml/2006/main" w="0">
            <a:solidFill>
              <a:srgbClr val="10191C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FAE80B4-F26D-4A2F-AF68-46A46B94F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267200"/>
            <a:ext cx="9906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本專題的合規 gate 用於產品與技術設計，不等同於正式法律合規認證。正式上線仍需 KYC/AML、投資人適格性、託管與法律意見。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10FBC39-DED1-469D-BCA4-6FA84D135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5707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57073"/>
                </a:solidFill>
                <a:latin typeface="Aptos"/>
                <a:ea typeface="Aptos"/>
                <a:cs typeface="Aptos"/>
              </a:rPr>
              <a:t>Controls implemented in GoldReserveToken: whitelist / frozen / paused</a:t>
            </a:r>
          </a:p>
        </p:txBody>
      </p:sp>
    </p:spTree>
    <p:extLst>
      <p:ext uri="{BB962C8B-B14F-4D97-AF65-F5344CB8AC3E}">
        <p14:creationId xmlns:p14="http://schemas.microsoft.com/office/powerpoint/2010/main" val="1343634713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FBAB135-6C4B-4414-A0B1-3F0FF1923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764E9C-EF5B-49EE-A64A-5975A0838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A766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A766F"/>
                </a:solidFill>
                <a:latin typeface="Aptos"/>
                <a:ea typeface="Aptos"/>
                <a:cs typeface="Aptos"/>
              </a:rPr>
              <a:t>PRODUCT SURFACE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61781E-F540-40EE-90B0-7167B2225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8572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91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10191C"/>
                </a:solidFill>
                <a:latin typeface="Microsoft JhengHei"/>
                <a:ea typeface="Microsoft JhengHei"/>
                <a:cs typeface="Microsoft JhengHei"/>
              </a:rPr>
              <a:t>平台已分成投資人頁與管理者頁，對應兩種操作權限。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96739A-1EC9-4CF9-BA45-6EC6D1A62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38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5707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57073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2862E6-7A18-47B0-A98D-10BEDD386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33550"/>
            <a:ext cx="4000500" cy="1733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D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B0394D-3235-4136-9F57-92DF4E0D4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885950"/>
            <a:ext cx="3657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91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0191C"/>
                </a:solidFill>
                <a:latin typeface="Microsoft JhengHei"/>
                <a:ea typeface="Microsoft JhengHei"/>
                <a:cs typeface="Microsoft JhengHei"/>
              </a:rPr>
              <a:t>投資人頁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5221CF-7262-4138-B3E2-695F09043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228850"/>
            <a:ext cx="365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570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0">
                <a:solidFill>
                  <a:srgbClr val="657073"/>
                </a:solidFill>
                <a:latin typeface="Microsoft JhengHei"/>
                <a:ea typeface="Microsoft JhengHei"/>
                <a:cs typeface="Microsoft JhengHei"/>
              </a:rPr>
              <a:t>連接 MetaMask、刷新 GGT 餘額、送出認購申請、執行鏈上贖回。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BCDDC8-B0EF-4ED3-9DAF-465204832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1733550"/>
            <a:ext cx="4000500" cy="1733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D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F19745-851E-43C5-9BE3-0B98FD5DB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1885950"/>
            <a:ext cx="3657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91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0191C"/>
                </a:solidFill>
                <a:latin typeface="Microsoft JhengHei"/>
                <a:ea typeface="Microsoft JhengHei"/>
                <a:cs typeface="Microsoft JhengHei"/>
              </a:rPr>
              <a:t>管理者頁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89D77D-98AC-4742-AAEC-04AC69035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228850"/>
            <a:ext cx="365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570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0">
                <a:solidFill>
                  <a:srgbClr val="657073"/>
                </a:solidFill>
                <a:latin typeface="Microsoft JhengHei"/>
                <a:ea typeface="Microsoft JhengHei"/>
                <a:cs typeface="Microsoft JhengHei"/>
              </a:rPr>
              <a:t>查看申購佇列、更新 proof、加入白名單、發行 GGT、凍結與暫停。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81E74C-8B38-4296-9889-765A2B928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305050"/>
            <a:ext cx="1714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72F"/>
          </a:solidFill>
          <a:ln xmlns:a="http://schemas.openxmlformats.org/drawingml/2006/main" w="0">
            <a:solidFill>
              <a:srgbClr val="D8A72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A81BE8-01FB-4C9E-91EC-8597387A0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038350"/>
            <a:ext cx="1238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8F67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8F6719"/>
                </a:solidFill>
                <a:latin typeface="Microsoft JhengHei"/>
                <a:ea typeface="Microsoft JhengHei"/>
                <a:cs typeface="Microsoft JhengHei"/>
              </a:rPr>
              <a:t>審核與發行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7AF12D-14F5-48AF-84D0-346156F59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381500"/>
            <a:ext cx="44767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D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2634469-BD75-492A-BE5F-9B6D102C8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552950"/>
            <a:ext cx="4133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570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657073"/>
                </a:solidFill>
                <a:latin typeface="Microsoft JhengHei"/>
                <a:ea typeface="Microsoft JhengHei"/>
                <a:cs typeface="Microsoft JhengHei"/>
              </a:rPr>
              <a:t>Production URL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89A72A7-CB76-4C66-B9E4-B03F8F624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781550"/>
            <a:ext cx="4133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A766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A766F"/>
                </a:solidFill>
                <a:latin typeface="Aptos"/>
                <a:ea typeface="Aptos"/>
                <a:cs typeface="Aptos"/>
              </a:rPr>
              <a:t>gold-rwa-poc.vercel.app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8A42473-198D-4EF1-926E-5004D6EE4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067300"/>
            <a:ext cx="4133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570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>
                <a:solidFill>
                  <a:srgbClr val="657073"/>
                </a:solidFill>
                <a:latin typeface="Microsoft JhengHei"/>
                <a:ea typeface="Microsoft JhengHei"/>
                <a:cs typeface="Microsoft JhengHei"/>
              </a:rPr>
              <a:t>Investor page and admin page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69AFD59-8C5D-41C6-AA10-BF35C97A5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381500"/>
            <a:ext cx="44767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D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1420C87-535C-4A2C-9A07-9464BFC8C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552950"/>
            <a:ext cx="4133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570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657073"/>
                </a:solidFill>
                <a:latin typeface="Microsoft JhengHei"/>
                <a:ea typeface="Microsoft JhengHei"/>
                <a:cs typeface="Microsoft JhengHei"/>
              </a:rPr>
              <a:t>Sepolia contract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463263B-E3C6-4132-AC69-EEFBC8459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781550"/>
            <a:ext cx="4133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8F6719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8F6719"/>
                </a:solidFill>
                <a:latin typeface="Aptos"/>
                <a:ea typeface="Aptos"/>
                <a:cs typeface="Aptos"/>
              </a:rPr>
              <a:t>0x37b0Af...7Fb9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A4BC7B4-0FAB-47DE-BC93-1C60A1768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067300"/>
            <a:ext cx="4133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570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>
                <a:solidFill>
                  <a:srgbClr val="657073"/>
                </a:solidFill>
                <a:latin typeface="Microsoft JhengHei"/>
                <a:ea typeface="Microsoft JhengHei"/>
                <a:cs typeface="Microsoft JhengHei"/>
              </a:rPr>
              <a:t>GoldReserveToken deployed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8284BB9-7551-4878-B4A3-93ED9AD1E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5707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57073"/>
                </a:solidFill>
                <a:latin typeface="Aptos"/>
                <a:ea typeface="Aptos"/>
                <a:cs typeface="Aptos"/>
              </a:rPr>
              <a:t>Deployed platform: https://gold-rwa-poc.vercel.app/</a:t>
            </a:r>
          </a:p>
        </p:txBody>
      </p:sp>
    </p:spTree>
    <p:extLst>
      <p:ext uri="{BB962C8B-B14F-4D97-AF65-F5344CB8AC3E}">
        <p14:creationId xmlns:p14="http://schemas.microsoft.com/office/powerpoint/2010/main" val="1341562585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0C2D584-066B-4FFC-966B-60AC00140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7A6D53-6E19-4B6F-893E-11133D448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A766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A766F"/>
                </a:solidFill>
                <a:latin typeface="Aptos"/>
                <a:ea typeface="Aptos"/>
                <a:cs typeface="Aptos"/>
              </a:rPr>
              <a:t>SMART CONTRACT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7149DE-092D-449C-A078-863308FB4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8572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91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10191C"/>
                </a:solidFill>
                <a:latin typeface="Microsoft JhengHei"/>
                <a:ea typeface="Microsoft JhengHei"/>
                <a:cs typeface="Microsoft JhengHei"/>
              </a:rPr>
              <a:t>合約保留最小但完整的黃金 RWA 操作面。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8233EB-CCA3-4465-B4B5-5F82FA78B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38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5707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57073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D0962A-E263-429A-B290-E07F18015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19250"/>
            <a:ext cx="106680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D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D6CAEF-D7D7-4FA3-A749-079D8A81F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66900"/>
            <a:ext cx="285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570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657073"/>
                </a:solidFill>
                <a:latin typeface="Microsoft JhengHei"/>
                <a:ea typeface="Microsoft JhengHei"/>
                <a:cs typeface="Microsoft JhengHei"/>
              </a:rPr>
              <a:t>函式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1B58A7-6581-4801-9BD8-820594936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186690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570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657073"/>
                </a:solidFill>
                <a:latin typeface="Microsoft JhengHei"/>
                <a:ea typeface="Microsoft JhengHei"/>
                <a:cs typeface="Microsoft JhengHei"/>
              </a:rPr>
              <a:t>用途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6A7B95-FF66-4BAA-81BF-0AF6A6517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186690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570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657073"/>
                </a:solidFill>
                <a:latin typeface="Microsoft JhengHei"/>
                <a:ea typeface="Microsoft JhengHei"/>
                <a:cs typeface="Microsoft JhengHei"/>
              </a:rPr>
              <a:t>權限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DABE68-5C1A-46D6-B578-529099A1C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171700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D8"/>
          </a:solidFill>
          <a:ln xmlns:a="http://schemas.openxmlformats.org/drawingml/2006/main" w="0">
            <a:solidFill>
              <a:srgbClr val="D9DED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957F55-39FF-460E-A823-184F4E745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286000"/>
            <a:ext cx="3238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91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191C"/>
                </a:solidFill>
                <a:latin typeface="Aptos"/>
                <a:ea typeface="Aptos"/>
                <a:cs typeface="Aptos"/>
              </a:rPr>
              <a:t>updateReserveProof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02D837-E3BE-4ADB-A376-6B325F0FD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286000"/>
            <a:ext cx="3905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91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10191C"/>
                </a:solidFill>
                <a:latin typeface="Microsoft JhengHei"/>
                <a:ea typeface="Microsoft JhengHei"/>
                <a:cs typeface="Microsoft JhengHei"/>
              </a:rPr>
              <a:t>更新 reserveGrams 與 latestProofHash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8796BF-3623-43D2-82B2-250C3A5F9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286000"/>
            <a:ext cx="161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8F67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8F6719"/>
                </a:solidFill>
                <a:latin typeface="Microsoft JhengHei"/>
                <a:ea typeface="Microsoft JhengHei"/>
                <a:cs typeface="Microsoft JhengHei"/>
              </a:rPr>
              <a:t>Auditor / Owner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D8B76F-E4B6-4F54-BBA7-015002F3A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800350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D8"/>
          </a:solidFill>
          <a:ln xmlns:a="http://schemas.openxmlformats.org/drawingml/2006/main" w="0">
            <a:solidFill>
              <a:srgbClr val="D9DED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AE8CB34-69B2-479E-A1FF-5188ACF08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914650"/>
            <a:ext cx="3238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91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191C"/>
                </a:solidFill>
                <a:latin typeface="Aptos"/>
                <a:ea typeface="Aptos"/>
                <a:cs typeface="Aptos"/>
              </a:rPr>
              <a:t>mintByReserve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F4772F2-E790-4BD7-BC8D-491A37EDF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914650"/>
            <a:ext cx="3905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91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10191C"/>
                </a:solidFill>
                <a:latin typeface="Microsoft JhengHei"/>
                <a:ea typeface="Microsoft JhengHei"/>
                <a:cs typeface="Microsoft JhengHei"/>
              </a:rPr>
              <a:t>發行 GGT，但不得超過儲備量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16335D1-AC4C-4567-BD82-8BF34AC27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914650"/>
            <a:ext cx="161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8F67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8F6719"/>
                </a:solidFill>
                <a:latin typeface="Microsoft JhengHei"/>
                <a:ea typeface="Microsoft JhengHei"/>
                <a:cs typeface="Microsoft JhengHei"/>
              </a:rPr>
              <a:t>Issuer / Owner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7E5D43B-1778-4F4B-B6D7-4418816A9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429000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D8"/>
          </a:solidFill>
          <a:ln xmlns:a="http://schemas.openxmlformats.org/drawingml/2006/main" w="0">
            <a:solidFill>
              <a:srgbClr val="D9DED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163A0F0-EADC-4AD0-9E74-5BC749C7A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543300"/>
            <a:ext cx="3238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91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191C"/>
                </a:solidFill>
                <a:latin typeface="Aptos"/>
                <a:ea typeface="Aptos"/>
                <a:cs typeface="Aptos"/>
              </a:rPr>
              <a:t>burnForRedemption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70D4D48-EA29-434A-9819-F18DC8F5D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543300"/>
            <a:ext cx="3905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91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10191C"/>
                </a:solidFill>
                <a:latin typeface="Microsoft JhengHei"/>
                <a:ea typeface="Microsoft JhengHei"/>
                <a:cs typeface="Microsoft JhengHei"/>
              </a:rPr>
              <a:t>投資人燒毀 GGT 並啟動提領流程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E9AA6D3-9FB2-4F11-86E7-B04323498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543300"/>
            <a:ext cx="161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A76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1A766F"/>
                </a:solidFill>
                <a:latin typeface="Microsoft JhengHei"/>
                <a:ea typeface="Microsoft JhengHei"/>
                <a:cs typeface="Microsoft JhengHei"/>
              </a:rPr>
              <a:t>Investor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B2E203A-0A85-4C76-A8DE-C5D60236B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057650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D8"/>
          </a:solidFill>
          <a:ln xmlns:a="http://schemas.openxmlformats.org/drawingml/2006/main" w="0">
            <a:solidFill>
              <a:srgbClr val="D9DED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E2EEFEB-D54C-4095-BEBE-AB7930969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71950"/>
            <a:ext cx="3238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91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191C"/>
                </a:solidFill>
                <a:latin typeface="Aptos"/>
                <a:ea typeface="Aptos"/>
                <a:cs typeface="Aptos"/>
              </a:rPr>
              <a:t>setWhitelist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2EE457C-7B40-4090-A560-AA103FEB9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171950"/>
            <a:ext cx="3905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91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10191C"/>
                </a:solidFill>
                <a:latin typeface="Microsoft JhengHei"/>
                <a:ea typeface="Microsoft JhengHei"/>
                <a:cs typeface="Microsoft JhengHei"/>
              </a:rPr>
              <a:t>管理可持有與轉讓資格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0A54F92-E5BF-4E6F-A5D7-D8840C74C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4171950"/>
            <a:ext cx="161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8F67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8F6719"/>
                </a:solidFill>
                <a:latin typeface="Microsoft JhengHei"/>
                <a:ea typeface="Microsoft JhengHei"/>
                <a:cs typeface="Microsoft JhengHei"/>
              </a:rPr>
              <a:t>Owner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15878FD-2A22-457A-A335-723E956ED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686300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D8"/>
          </a:solidFill>
          <a:ln xmlns:a="http://schemas.openxmlformats.org/drawingml/2006/main" w="0">
            <a:solidFill>
              <a:srgbClr val="D9DED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BB1109A-BF43-4BD2-99E3-70A3EADE8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800600"/>
            <a:ext cx="3238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91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191C"/>
                </a:solidFill>
                <a:latin typeface="Aptos"/>
                <a:ea typeface="Aptos"/>
                <a:cs typeface="Aptos"/>
              </a:rPr>
              <a:t>setFrozen / setPaused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975E23E-7762-49C8-B3A6-51454D61B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800600"/>
            <a:ext cx="3905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91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10191C"/>
                </a:solidFill>
                <a:latin typeface="Microsoft JhengHei"/>
                <a:ea typeface="Microsoft JhengHei"/>
                <a:cs typeface="Microsoft JhengHei"/>
              </a:rPr>
              <a:t>風險帳戶與緊急事件控制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84FF93C-F6AC-4007-A9DF-256A32CCD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4800600"/>
            <a:ext cx="161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8F67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8F6719"/>
                </a:solidFill>
                <a:latin typeface="Microsoft JhengHei"/>
                <a:ea typeface="Microsoft JhengHei"/>
                <a:cs typeface="Microsoft JhengHei"/>
              </a:rPr>
              <a:t>Owner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76B71D1-C6FD-4CD7-894C-0EED9409E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5707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57073"/>
                </a:solidFill>
                <a:latin typeface="Aptos"/>
                <a:ea typeface="Aptos"/>
                <a:cs typeface="Aptos"/>
              </a:rPr>
              <a:t>Contract source: contracts/GoldReserveToken.sol</a:t>
            </a:r>
          </a:p>
        </p:txBody>
      </p:sp>
    </p:spTree>
    <p:extLst>
      <p:ext uri="{BB962C8B-B14F-4D97-AF65-F5344CB8AC3E}">
        <p14:creationId xmlns:p14="http://schemas.microsoft.com/office/powerpoint/2010/main" val="1807139303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12B4A78-9BAE-4CA6-BA41-26CBB9688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852671-4E6D-4180-B2CA-6007C1EB8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A766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A766F"/>
                </a:solidFill>
                <a:latin typeface="Aptos"/>
                <a:ea typeface="Aptos"/>
                <a:cs typeface="Aptos"/>
              </a:rPr>
              <a:t>VERIFICATION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15D7DF-4391-438A-824A-C685AFDB5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8572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91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10191C"/>
                </a:solidFill>
                <a:latin typeface="Microsoft JhengHei"/>
                <a:ea typeface="Microsoft JhengHei"/>
                <a:cs typeface="Microsoft JhengHei"/>
              </a:rPr>
              <a:t>目前已驗證產品流程，下一層是跨使用者資料同步與正式基礎設施。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2A7D52-FA66-4A61-AE7B-916902CB4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38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5707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57073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82E77B-D916-40C4-B7F4-A63DFFC9C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76400"/>
            <a:ext cx="24765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D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703228-EE99-4A9A-8406-B1B1304F5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847850"/>
            <a:ext cx="2133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570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657073"/>
                </a:solidFill>
                <a:latin typeface="Microsoft JhengHei"/>
                <a:ea typeface="Microsoft JhengHei"/>
                <a:cs typeface="Microsoft JhengHei"/>
              </a:rPr>
              <a:t>Local logic tests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1CFA6D-B42B-48BA-AE4D-6317CC23E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076450"/>
            <a:ext cx="2133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A766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A766F"/>
                </a:solidFill>
                <a:latin typeface="Aptos"/>
                <a:ea typeface="Aptos"/>
                <a:cs typeface="Aptos"/>
              </a:rPr>
              <a:t>PASS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F25C2C-FE87-46C9-AD96-19F48DC6C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419350"/>
            <a:ext cx="2133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570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>
                <a:solidFill>
                  <a:srgbClr val="657073"/>
                </a:solidFill>
                <a:latin typeface="Microsoft JhengHei"/>
                <a:ea typeface="Microsoft JhengHei"/>
                <a:cs typeface="Microsoft JhengHei"/>
              </a:rPr>
              <a:t>Gold RWA core tests passed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DD775C-1D40-493B-A6C8-B50E863A7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1676400"/>
            <a:ext cx="24765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D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2B6566-6317-407E-A243-D880B974C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1847850"/>
            <a:ext cx="2133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570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657073"/>
                </a:solidFill>
                <a:latin typeface="Microsoft JhengHei"/>
                <a:ea typeface="Microsoft JhengHei"/>
                <a:cs typeface="Microsoft JhengHei"/>
              </a:rPr>
              <a:t>Vercel deployment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9D4FEA-7881-4A6D-894A-CCDA161D0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076450"/>
            <a:ext cx="2133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A766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A766F"/>
                </a:solidFill>
                <a:latin typeface="Aptos"/>
                <a:ea typeface="Aptos"/>
                <a:cs typeface="Aptos"/>
              </a:rPr>
              <a:t>READY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A90D46-656A-44EF-A844-13EDDC10C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419350"/>
            <a:ext cx="2133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570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>
                <a:solidFill>
                  <a:srgbClr val="657073"/>
                </a:solidFill>
                <a:latin typeface="Microsoft JhengHei"/>
                <a:ea typeface="Microsoft JhengHei"/>
                <a:cs typeface="Microsoft JhengHei"/>
              </a:rPr>
              <a:t>Production alias online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73CAC8-50BC-4A2C-9A15-1F7F078C2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676400"/>
            <a:ext cx="24765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D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3ED714-034E-4831-92B2-75EEFAEB9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1847850"/>
            <a:ext cx="2133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570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657073"/>
                </a:solidFill>
                <a:latin typeface="Microsoft JhengHei"/>
                <a:ea typeface="Microsoft JhengHei"/>
                <a:cs typeface="Microsoft JhengHei"/>
              </a:rPr>
              <a:t>Contract network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38B8C1-ECA8-4E2B-BF96-0B6FFEF85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076450"/>
            <a:ext cx="2133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8F6719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8F6719"/>
                </a:solidFill>
                <a:latin typeface="Aptos"/>
                <a:ea typeface="Aptos"/>
                <a:cs typeface="Aptos"/>
              </a:rPr>
              <a:t>Sepolia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3880CDA-427F-4A1C-B3FB-CE8DB2639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419350"/>
            <a:ext cx="2133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570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>
                <a:solidFill>
                  <a:srgbClr val="657073"/>
                </a:solidFill>
                <a:latin typeface="Microsoft JhengHei"/>
                <a:ea typeface="Microsoft JhengHei"/>
                <a:cs typeface="Microsoft JhengHei"/>
              </a:rPr>
              <a:t>Testnet transaction flow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74A8193-3E24-4470-8CAB-4AB6C7F78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676400"/>
            <a:ext cx="24765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D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B20B25B-FC72-441E-8C12-9DC081478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1847850"/>
            <a:ext cx="2133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570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657073"/>
                </a:solidFill>
                <a:latin typeface="Microsoft JhengHei"/>
                <a:ea typeface="Microsoft JhengHei"/>
                <a:cs typeface="Microsoft JhengHei"/>
              </a:rPr>
              <a:t>Known gap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ACD6058-3FDD-473A-884F-9EBB3C19B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076450"/>
            <a:ext cx="2133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B4454D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B4454D"/>
                </a:solidFill>
                <a:latin typeface="Aptos"/>
                <a:ea typeface="Aptos"/>
                <a:cs typeface="Aptos"/>
              </a:rPr>
              <a:t>Data sync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E4BA0AE-DACE-4E53-807F-BABDABB67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419350"/>
            <a:ext cx="2133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570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>
                <a:solidFill>
                  <a:srgbClr val="657073"/>
                </a:solidFill>
                <a:latin typeface="Microsoft JhengHei"/>
                <a:ea typeface="Microsoft JhengHei"/>
                <a:cs typeface="Microsoft JhengHei"/>
              </a:rPr>
              <a:t>Subscription queue uses localStorage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BD9FF48-DA2E-4863-A7A7-49E85E69E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619500"/>
            <a:ext cx="45720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2"/>
          </a:solidFill>
          <a:ln xmlns:a="http://schemas.openxmlformats.org/drawingml/2006/main" w="9525">
            <a:solidFill>
              <a:srgbClr val="B8D8D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1AF7973-134F-4A8D-B303-9CE6F1543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771900"/>
            <a:ext cx="4229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91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0191C"/>
                </a:solidFill>
                <a:latin typeface="Microsoft JhengHei"/>
                <a:ea typeface="Microsoft JhengHei"/>
                <a:cs typeface="Microsoft JhengHei"/>
              </a:rPr>
              <a:t>已完成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07C2158-C36D-4497-AABB-43394442F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114800"/>
            <a:ext cx="4229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570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0">
                <a:solidFill>
                  <a:srgbClr val="657073"/>
                </a:solidFill>
                <a:latin typeface="Microsoft JhengHei"/>
                <a:ea typeface="Microsoft JhengHei"/>
                <a:cs typeface="Microsoft JhengHei"/>
              </a:rPr>
              <a:t>投資人申請、MetaMask 連線、鏈上餘額讀取、管理者審核、白名單、發行與贖回。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71B3AF1-1567-4E09-8F29-B61F6BCE1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619500"/>
            <a:ext cx="45720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DEE"/>
          </a:solidFill>
          <a:ln xmlns:a="http://schemas.openxmlformats.org/drawingml/2006/main" w="9525">
            <a:solidFill>
              <a:srgbClr val="E2B7B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0624F68-B5BE-4E99-BD68-470AF1E94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771900"/>
            <a:ext cx="4229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91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0191C"/>
                </a:solidFill>
                <a:latin typeface="Microsoft JhengHei"/>
                <a:ea typeface="Microsoft JhengHei"/>
                <a:cs typeface="Microsoft JhengHei"/>
              </a:rPr>
              <a:t>待強化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6E0ACBB-6035-48B9-BA64-9D07C8EE7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114800"/>
            <a:ext cx="4229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570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0">
                <a:solidFill>
                  <a:srgbClr val="657073"/>
                </a:solidFill>
                <a:latin typeface="Microsoft JhengHei"/>
                <a:ea typeface="Microsoft JhengHei"/>
                <a:cs typeface="Microsoft JhengHei"/>
              </a:rPr>
              <a:t>後端資料庫或申請合約事件、正式 KYC/AML、真實託管報告、審計與法律文件。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DF940C4-F0A7-48D8-B1DF-4B4E479F3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410200"/>
            <a:ext cx="102108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91C"/>
          </a:solidFill>
          <a:ln xmlns:a="http://schemas.openxmlformats.org/drawingml/2006/main" w="0">
            <a:solidFill>
              <a:srgbClr val="10191C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B78A743-5807-4A48-A66F-F1BF83096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505450"/>
            <a:ext cx="9810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重點：目前原型已能呈現 RWA 操作閉環；正式產品化需要把申請資料與合規流程升級到可審計基礎設施。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F3A3E98-496E-4287-A1A4-49D7AAA09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5707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57073"/>
                </a:solidFill>
                <a:latin typeface="Aptos"/>
                <a:ea typeface="Aptos"/>
                <a:cs typeface="Aptos"/>
              </a:rPr>
              <a:t>Verification: tests/core.test.js, Vercel production deployment, Sepolia contract</a:t>
            </a:r>
          </a:p>
        </p:txBody>
      </p:sp>
    </p:spTree>
    <p:extLst>
      <p:ext uri="{BB962C8B-B14F-4D97-AF65-F5344CB8AC3E}">
        <p14:creationId xmlns:p14="http://schemas.microsoft.com/office/powerpoint/2010/main" val="927139109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3698A45-DE9A-47FD-97EC-98649403F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91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A1D109-E08D-4E2C-BB6F-FFDD0D48B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A766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A766F"/>
                </a:solidFill>
                <a:latin typeface="Aptos"/>
                <a:ea typeface="Aptos"/>
                <a:cs typeface="Aptos"/>
              </a:rPr>
              <a:t>ROADMAP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19AB1F-FD63-4B8F-94C2-37757649C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8572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從可操作原型走向可部署 RWA 產品，需要補齊資料、合規與資產信任。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434AB6-385E-4FEE-85E5-AD75DFD92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38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C6D0D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C6D0D2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DCF1F1-BD90-4BFC-9D80-9DB0CB34E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00250"/>
            <a:ext cx="2000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126"/>
          </a:solidFill>
          <a:ln xmlns:a="http://schemas.openxmlformats.org/drawingml/2006/main" w="9525">
            <a:solidFill>
              <a:srgbClr val="2B3B4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CFD84B-7005-4672-9FC9-180A7B2A3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A72F"/>
          </a:solidFill>
          <a:ln xmlns:a="http://schemas.openxmlformats.org/drawingml/2006/main" w="0">
            <a:solidFill>
              <a:srgbClr val="D8A72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DB8EFF-B657-4EB8-8869-ABDC1E692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0275"/>
            <a:ext cx="3238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0191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0191C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755E77-54C2-44F9-B23D-2C58B2E76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133600"/>
            <a:ext cx="1314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申請資料同步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FA1657-78E3-4E23-9895-26DB2A1FB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95550"/>
            <a:ext cx="16573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8C4C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0">
                <a:solidFill>
                  <a:srgbClr val="B8C4C6"/>
                </a:solidFill>
                <a:latin typeface="Microsoft JhengHei"/>
                <a:ea typeface="Microsoft JhengHei"/>
                <a:cs typeface="Microsoft JhengHei"/>
              </a:rPr>
              <a:t>Phase 1 · Vercel API、資料庫、管理者審核流程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043144-1BCE-493A-8E1C-4BB955E35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857500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72F"/>
          </a:solidFill>
          <a:ln xmlns:a="http://schemas.openxmlformats.org/drawingml/2006/main" w="0">
            <a:solidFill>
              <a:srgbClr val="D8A72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FD1DA2-BCC5-4EB9-B4C3-E39D7B6EF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000250"/>
            <a:ext cx="2000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126"/>
          </a:solidFill>
          <a:ln xmlns:a="http://schemas.openxmlformats.org/drawingml/2006/main" w="9525">
            <a:solidFill>
              <a:srgbClr val="2B3B4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FA569E-E695-4A99-8175-F8C018F8D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1336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A72F"/>
          </a:solidFill>
          <a:ln xmlns:a="http://schemas.openxmlformats.org/drawingml/2006/main" w="0">
            <a:solidFill>
              <a:srgbClr val="D8A72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67575F-9FBE-4A0A-8EE5-4D110637F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200275"/>
            <a:ext cx="3238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0191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0191C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03902BE-5EE7-450D-9FC5-4E8E49990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133600"/>
            <a:ext cx="1314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證明文件強化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1E7F965-A381-4CCB-90FA-050CABFF8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95550"/>
            <a:ext cx="16573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8C4C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0">
                <a:solidFill>
                  <a:srgbClr val="B8C4C6"/>
                </a:solidFill>
                <a:latin typeface="Microsoft JhengHei"/>
                <a:ea typeface="Microsoft JhengHei"/>
                <a:cs typeface="Microsoft JhengHei"/>
              </a:rPr>
              <a:t>Phase 2 · 審計報告上傳、hash、版本紀錄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AF1EFBF-6908-479D-A79D-708C12DBC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857500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72F"/>
          </a:solidFill>
          <a:ln xmlns:a="http://schemas.openxmlformats.org/drawingml/2006/main" w="0">
            <a:solidFill>
              <a:srgbClr val="D8A72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FCE6776-F6BC-43F7-A698-DB28E5DE5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000250"/>
            <a:ext cx="2000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126"/>
          </a:solidFill>
          <a:ln xmlns:a="http://schemas.openxmlformats.org/drawingml/2006/main" w="9525">
            <a:solidFill>
              <a:srgbClr val="2B3B4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084A8C5-5070-450A-968A-A13444043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1336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A72F"/>
          </a:solidFill>
          <a:ln xmlns:a="http://schemas.openxmlformats.org/drawingml/2006/main" w="0">
            <a:solidFill>
              <a:srgbClr val="D8A72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15A1B17-8164-4C0E-B87F-53C8E94C0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200275"/>
            <a:ext cx="3238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0191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0191C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99B9C42-BED0-4289-9BBC-6C84919FB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133600"/>
            <a:ext cx="1314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KYC / AML 串接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BF16612-FA44-4885-995F-154C35381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495550"/>
            <a:ext cx="16573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8C4C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0">
                <a:solidFill>
                  <a:srgbClr val="B8C4C6"/>
                </a:solidFill>
                <a:latin typeface="Microsoft JhengHei"/>
                <a:ea typeface="Microsoft JhengHei"/>
                <a:cs typeface="Microsoft JhengHei"/>
              </a:rPr>
              <a:t>Phase 3 · 投資人資格、地區限制、風險狀態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42B9ABF-E0F6-4B14-9F58-F9FD857DF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857500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72F"/>
          </a:solidFill>
          <a:ln xmlns:a="http://schemas.openxmlformats.org/drawingml/2006/main" w="0">
            <a:solidFill>
              <a:srgbClr val="D8A72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4D748E2-81FF-4F85-AE79-517BAC772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000250"/>
            <a:ext cx="2000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126"/>
          </a:solidFill>
          <a:ln xmlns:a="http://schemas.openxmlformats.org/drawingml/2006/main" w="9525">
            <a:solidFill>
              <a:srgbClr val="2B3B4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75A7FE8-3819-41FA-97F9-C3BEDE3EA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1336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A72F"/>
          </a:solidFill>
          <a:ln xmlns:a="http://schemas.openxmlformats.org/drawingml/2006/main" w="0">
            <a:solidFill>
              <a:srgbClr val="D8A72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7CAFAB1-EC86-4620-B70B-5EFACC67D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200275"/>
            <a:ext cx="3238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0191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0191C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60BD102-75CD-4200-AD4F-2D887B0D2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133600"/>
            <a:ext cx="1314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贖回營運流程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D9FE3F6-0490-453B-8EC5-ACA2BC2B2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495550"/>
            <a:ext cx="16573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8C4C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0">
                <a:solidFill>
                  <a:srgbClr val="B8C4C6"/>
                </a:solidFill>
                <a:latin typeface="Microsoft JhengHei"/>
                <a:ea typeface="Microsoft JhengHei"/>
                <a:cs typeface="Microsoft JhengHei"/>
              </a:rPr>
              <a:t>Phase 4 · 提領工單、保管方確認、狀態追蹤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B984166-C335-48A8-9584-E1756C0E6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857500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72F"/>
          </a:solidFill>
          <a:ln xmlns:a="http://schemas.openxmlformats.org/drawingml/2006/main" w="0">
            <a:solidFill>
              <a:srgbClr val="D8A72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1FF4ECB-E861-43E6-B431-67DD8A396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000250"/>
            <a:ext cx="2000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126"/>
          </a:solidFill>
          <a:ln xmlns:a="http://schemas.openxmlformats.org/drawingml/2006/main" w="9525">
            <a:solidFill>
              <a:srgbClr val="2B3B40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AC46B09-0440-4AF7-B87C-A19AF4370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1336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A72F"/>
          </a:solidFill>
          <a:ln xmlns:a="http://schemas.openxmlformats.org/drawingml/2006/main" w="0">
            <a:solidFill>
              <a:srgbClr val="D8A72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11043C8-28CD-426A-9E5F-371F28AD0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200275"/>
            <a:ext cx="3238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0191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0191C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0B20CD4-3090-4BF4-A572-1D4614242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2133600"/>
            <a:ext cx="1314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正式風險治理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3CE257C-DBBE-4246-B195-1D910CDE4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2495550"/>
            <a:ext cx="16573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8C4C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0">
                <a:solidFill>
                  <a:srgbClr val="B8C4C6"/>
                </a:solidFill>
                <a:latin typeface="Microsoft JhengHei"/>
                <a:ea typeface="Microsoft JhengHei"/>
                <a:cs typeface="Microsoft JhengHei"/>
              </a:rPr>
              <a:t>Phase 5 · 法律意見、審計、監控、事件回報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19A8A2A-311F-4F07-BB35-2A290C2D3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62500"/>
            <a:ext cx="10363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72F"/>
          </a:solidFill>
          <a:ln xmlns:a="http://schemas.openxmlformats.org/drawingml/2006/main" w="0">
            <a:solidFill>
              <a:srgbClr val="D8A72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F488CAE-914B-451D-8012-8DF09D3BF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953000"/>
            <a:ext cx="857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91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10191C"/>
                </a:solidFill>
                <a:latin typeface="Microsoft JhengHei"/>
                <a:ea typeface="Microsoft JhengHei"/>
                <a:cs typeface="Microsoft JhengHei"/>
              </a:rPr>
              <a:t>結論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138C349-F2BF-46CD-BCD4-DA2DD47B3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181600"/>
            <a:ext cx="98869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91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0191C"/>
                </a:solidFill>
                <a:latin typeface="Microsoft JhengHei"/>
                <a:ea typeface="Microsoft JhengHei"/>
                <a:cs typeface="Microsoft JhengHei"/>
              </a:rPr>
              <a:t>GoldReserve 的價值在於把黃金 RWA 的信任邏輯產品化：儲備可驗證、發行有邊界、角色可控、贖回可追蹤。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54543F6-0542-4A9D-ACF4-AB56D8382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EBABE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AEBABE"/>
                </a:solidFill>
                <a:latin typeface="Aptos"/>
                <a:ea typeface="Aptos"/>
                <a:cs typeface="Aptos"/>
              </a:rPr>
              <a:t>Next step: move subscription queue from localStorage to auditable backend or contract event flow</a:t>
            </a:r>
          </a:p>
        </p:txBody>
      </p:sp>
    </p:spTree>
    <p:extLst>
      <p:ext uri="{BB962C8B-B14F-4D97-AF65-F5344CB8AC3E}">
        <p14:creationId xmlns:p14="http://schemas.microsoft.com/office/powerpoint/2010/main" val="28818677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2026-06-03T10:50:58.5250000Z</dcterms:created>
  <dcterms:modified xsi:type="dcterms:W3CDTF">2026-06-03T10:50:58.5260000Z</dcterms:modified>
</coreProperties>
</file>